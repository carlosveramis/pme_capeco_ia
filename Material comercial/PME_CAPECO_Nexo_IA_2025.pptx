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850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solidFill>
            <a:srgbClr val="0058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61520" cy="100584"/>
          </a:xfrm>
          <a:prstGeom prst="rect">
            <a:avLst/>
          </a:prstGeom>
          <a:solidFill>
            <a:srgbClr val="26B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301752"/>
            <a:ext cx="12161520" cy="64008"/>
          </a:xfrm>
          <a:prstGeom prst="rect">
            <a:avLst/>
          </a:prstGeom>
          <a:solidFill>
            <a:srgbClr val="2EE0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594360"/>
            <a:ext cx="1371600" cy="384048"/>
          </a:xfrm>
          <a:prstGeom prst="rect">
            <a:avLst/>
          </a:prstGeom>
          <a:solidFill>
            <a:srgbClr val="0058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CAPECO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640080"/>
            <a:ext cx="64008" cy="292608"/>
          </a:xfrm>
          <a:prstGeom prst="rect">
            <a:avLst/>
          </a:prstGeom>
          <a:solidFill>
            <a:srgbClr val="26B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57400" y="5943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6B7FF"/>
                </a:solidFill>
              </a:rPr>
              <a:t>MILLENNIAL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14300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0" b="1" kern="0" spc="500" dirty="0">
                <a:solidFill>
                  <a:srgbClr val="FFFFFF"/>
                </a:solidFill>
              </a:rPr>
              <a:t>PME</a:t>
            </a:r>
            <a:endParaRPr lang="en-US" sz="88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00" dirty="0">
                <a:solidFill>
                  <a:srgbClr val="26B7FF"/>
                </a:solidFill>
              </a:rPr>
              <a:t>INTELIGENCIA</a:t>
            </a:r>
            <a:endParaRPr lang="en-US" sz="2800" dirty="0"/>
          </a:p>
          <a:p>
            <a:pPr marL="0" indent="0">
              <a:buNone/>
            </a:pPr>
            <a:r>
              <a:rPr lang="en-US" sz="2800" b="1" kern="0" spc="100" dirty="0">
                <a:solidFill>
                  <a:srgbClr val="26B7FF"/>
                </a:solidFill>
              </a:rPr>
              <a:t>INMOBILIARIA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9BB5CC"/>
                </a:solidFill>
              </a:rPr>
              <a:t>Datos PME CAPECO (censal) + Nexo Inmobiliario (mercado)
</a:t>
            </a:r>
            <a:r>
              <a:rPr lang="en-US" sz="1300" dirty="0">
                <a:solidFill>
                  <a:srgbClr val="9BB5CC"/>
                </a:solidFill>
              </a:rPr>
              <a:t>Reportes Power BI gratuitos · Precios m² · Disponibilidad
App IA de Valorización por foto o geolocalización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480560"/>
            <a:ext cx="3840480" cy="420624"/>
          </a:xfrm>
          <a:prstGeom prst="rect">
            <a:avLst/>
          </a:prstGeom>
          <a:solidFill>
            <a:srgbClr val="0058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PME CAPECO — Datos Censales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5001768"/>
            <a:ext cx="3840480" cy="420624"/>
          </a:xfrm>
          <a:prstGeom prst="rect">
            <a:avLst/>
          </a:prstGeom>
          <a:solidFill>
            <a:srgbClr val="5F7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500176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🔍  Nexo Inmobiliario — Contraste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5522976"/>
            <a:ext cx="3840480" cy="420624"/>
          </a:xfrm>
          <a:prstGeom prst="rect">
            <a:avLst/>
          </a:prstGeom>
          <a:solidFill>
            <a:srgbClr val="2EE0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552297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🤖  App IA — Valorización Gratis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0"/>
            <a:ext cx="5577840" cy="6858000"/>
          </a:xfrm>
          <a:prstGeom prst="rect">
            <a:avLst/>
          </a:prstGeom>
          <a:solidFill>
            <a:srgbClr val="030D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0" y="0"/>
            <a:ext cx="164592" cy="6858000"/>
          </a:xfrm>
          <a:prstGeom prst="rect">
            <a:avLst/>
          </a:prstGeom>
          <a:solidFill>
            <a:srgbClr val="0058A7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503920" y="0"/>
            <a:ext cx="164592" cy="6858000"/>
          </a:xfrm>
          <a:prstGeom prst="rect">
            <a:avLst/>
          </a:prstGeom>
          <a:solidFill>
            <a:srgbClr val="0058A7">
              <a:alpha val="3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144000" y="0"/>
            <a:ext cx="164592" cy="6858000"/>
          </a:xfrm>
          <a:prstGeom prst="rect">
            <a:avLst/>
          </a:prstGeom>
          <a:solidFill>
            <a:srgbClr val="0058A7">
              <a:alpha val="4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692640" y="0"/>
            <a:ext cx="164592" cy="6858000"/>
          </a:xfrm>
          <a:prstGeom prst="rect">
            <a:avLst/>
          </a:prstGeom>
          <a:solidFill>
            <a:srgbClr val="0058A7">
              <a:alpha val="5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0" y="5943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26B7FF"/>
                </a:solidFill>
              </a:rPr>
              <a:t>DATOS EN TIEMPO REAL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8961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799"/>
                </a:solidFill>
              </a:rPr>
              <a:t>Lima Metropolitana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132320" y="1371600"/>
            <a:ext cx="4480560" cy="1143000"/>
          </a:xfrm>
          <a:prstGeom prst="rect">
            <a:avLst/>
          </a:prstGeom>
          <a:solidFill>
            <a:srgbClr val="0A1E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132320" y="1371600"/>
            <a:ext cx="128016" cy="1143000"/>
          </a:xfrm>
          <a:prstGeom prst="rect">
            <a:avLst/>
          </a:prstGeom>
          <a:solidFill>
            <a:srgbClr val="26B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06640" y="141732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100%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7406640" y="19933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BBB"/>
                </a:solidFill>
              </a:rPr>
              <a:t>Universo proyectos Lima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32320" y="2670048"/>
            <a:ext cx="4480560" cy="1143000"/>
          </a:xfrm>
          <a:prstGeom prst="rect">
            <a:avLst/>
          </a:prstGeom>
          <a:solidFill>
            <a:srgbClr val="0A1E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132320" y="2670048"/>
            <a:ext cx="128016" cy="1143000"/>
          </a:xfrm>
          <a:prstGeom prst="rect">
            <a:avLst/>
          </a:prstGeom>
          <a:solidFill>
            <a:srgbClr val="2EE0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406640" y="271576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63+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7406640" y="3291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BBB"/>
                </a:solidFill>
              </a:rPr>
              <a:t>Años trayectoria CAPECO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132320" y="3968496"/>
            <a:ext cx="4480560" cy="1143000"/>
          </a:xfrm>
          <a:prstGeom prst="rect">
            <a:avLst/>
          </a:prstGeom>
          <a:solidFill>
            <a:srgbClr val="0A1E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132320" y="3968496"/>
            <a:ext cx="128016" cy="1143000"/>
          </a:xfrm>
          <a:prstGeom prst="rect">
            <a:avLst/>
          </a:prstGeom>
          <a:solidFill>
            <a:srgbClr val="5F7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406640" y="4014216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2 fuentes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7406640" y="45902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BBB"/>
                </a:solidFill>
              </a:rPr>
              <a:t>PME + Nexo consolidadas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132320" y="5266944"/>
            <a:ext cx="4480560" cy="1143000"/>
          </a:xfrm>
          <a:prstGeom prst="rect">
            <a:avLst/>
          </a:prstGeom>
          <a:solidFill>
            <a:srgbClr val="0A1E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132320" y="5266944"/>
            <a:ext cx="128016" cy="1143000"/>
          </a:xfrm>
          <a:prstGeom prst="rect">
            <a:avLst/>
          </a:prstGeom>
          <a:solidFill>
            <a:srgbClr val="C8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406640" y="5312664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Gratis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7406640" y="588873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BBB"/>
                </a:solidFill>
              </a:rPr>
              <a:t>Acceso público Power BI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00E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6688"/>
                </a:solidFill>
              </a:rPr>
              <a:t>PME CAPECO × Millennial  |  pme.pe  |  info@mivisualization.com  |  +51 975 113 510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058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61520" cy="82296"/>
          </a:xfrm>
          <a:prstGeom prst="rect">
            <a:avLst/>
          </a:prstGeom>
          <a:solidFill>
            <a:srgbClr val="26B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246888"/>
            <a:ext cx="12161520" cy="54864"/>
          </a:xfrm>
          <a:prstGeom prst="rect">
            <a:avLst/>
          </a:prstGeom>
          <a:solidFill>
            <a:srgbClr val="2EE0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058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64592"/>
            <a:ext cx="12161520" cy="82296"/>
          </a:xfrm>
          <a:prstGeom prst="rect">
            <a:avLst/>
          </a:prstGeom>
          <a:solidFill>
            <a:srgbClr val="26B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246888"/>
            <a:ext cx="12161520" cy="54864"/>
          </a:xfrm>
          <a:prstGeom prst="rect">
            <a:avLst/>
          </a:prstGeom>
          <a:solidFill>
            <a:srgbClr val="2EE0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502920"/>
            <a:ext cx="1280160" cy="384048"/>
          </a:xfrm>
          <a:prstGeom prst="rect">
            <a:avLst/>
          </a:prstGeom>
          <a:solidFill>
            <a:srgbClr val="0058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5029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PME HOY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5029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40"/>
                </a:solidFill>
              </a:rPr>
              <a:t>Lo que ya existe desde 2022 — Base consolidada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1078992"/>
            <a:ext cx="5486400" cy="1261872"/>
          </a:xfrm>
          <a:prstGeom prst="rect">
            <a:avLst/>
          </a:prstGeom>
          <a:solidFill>
            <a:srgbClr val="F4F7F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078992"/>
            <a:ext cx="109728" cy="1261872"/>
          </a:xfrm>
          <a:prstGeom prst="rect">
            <a:avLst/>
          </a:prstGeom>
          <a:solidFill>
            <a:srgbClr val="0058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1078992"/>
            <a:ext cx="5486400" cy="384048"/>
          </a:xfrm>
          <a:prstGeom prst="rect">
            <a:avLst/>
          </a:prstGeom>
          <a:solidFill>
            <a:srgbClr val="0058A7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1115568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8A7"/>
                </a:solidFill>
              </a:rPr>
              <a:t>01 — Estudio Censal 100% Lima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1517904"/>
            <a:ext cx="51663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Única fuente que cubre el 100% de proyectos de vivienda en comercialización. Metodología CAPECO desde 1961, digitalizada en 2022.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450592"/>
            <a:ext cx="5486400" cy="1261872"/>
          </a:xfrm>
          <a:prstGeom prst="rect">
            <a:avLst/>
          </a:prstGeom>
          <a:solidFill>
            <a:srgbClr val="F4F7F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450592"/>
            <a:ext cx="109728" cy="1261872"/>
          </a:xfrm>
          <a:prstGeom prst="rect">
            <a:avLst/>
          </a:prstGeom>
          <a:solidFill>
            <a:srgbClr val="5F7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450592"/>
            <a:ext cx="5486400" cy="384048"/>
          </a:xfrm>
          <a:prstGeom prst="rect">
            <a:avLst/>
          </a:prstGeom>
          <a:solidFill>
            <a:srgbClr val="5F7E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" y="2487168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7EFF"/>
                </a:solidFill>
              </a:rPr>
              <a:t>02 — Reportes Power BI Trimestrales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2889504"/>
            <a:ext cx="51663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Dashboards interactivos con datos de oferta, demanda, tipologías y velocidades de venta. Acceso con licencias incluidas.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822192"/>
            <a:ext cx="5486400" cy="1261872"/>
          </a:xfrm>
          <a:prstGeom prst="rect">
            <a:avLst/>
          </a:prstGeom>
          <a:solidFill>
            <a:srgbClr val="F4F7F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822192"/>
            <a:ext cx="109728" cy="1261872"/>
          </a:xfrm>
          <a:prstGeom prst="rect">
            <a:avLst/>
          </a:prstGeom>
          <a:solidFill>
            <a:srgbClr val="26B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3822192"/>
            <a:ext cx="5486400" cy="384048"/>
          </a:xfrm>
          <a:prstGeom prst="rect">
            <a:avLst/>
          </a:prstGeom>
          <a:solidFill>
            <a:srgbClr val="26B7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8368" y="3858768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B7FF"/>
                </a:solidFill>
              </a:rPr>
              <a:t>03 — Control de Acceso y Gobierno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" y="4261104"/>
            <a:ext cx="51663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Gestión de usuarios, roles y perfiles para auspiciadores. Reportes personalizados Platino/Oro/Plata.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5193792"/>
            <a:ext cx="5486400" cy="1261872"/>
          </a:xfrm>
          <a:prstGeom prst="rect">
            <a:avLst/>
          </a:prstGeom>
          <a:solidFill>
            <a:srgbClr val="F4F7F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5193792"/>
            <a:ext cx="109728" cy="1261872"/>
          </a:xfrm>
          <a:prstGeom prst="rect">
            <a:avLst/>
          </a:prstGeom>
          <a:solidFill>
            <a:srgbClr val="2EE0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5193792"/>
            <a:ext cx="5486400" cy="384048"/>
          </a:xfrm>
          <a:prstGeom prst="rect">
            <a:avLst/>
          </a:prstGeom>
          <a:solidFill>
            <a:srgbClr val="2EE0A2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8368" y="5230368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E0A2"/>
                </a:solidFill>
              </a:rPr>
              <a:t>04 — Plataforma PME.pe Activa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" y="5632704"/>
            <a:ext cx="51663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Portal web accesible desde PC y móvil con 9 auspiciadores activos y base de datos creciente.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0" y="1005840"/>
            <a:ext cx="5303520" cy="5440680"/>
          </a:xfrm>
          <a:prstGeom prst="rect">
            <a:avLst/>
          </a:prstGeom>
          <a:solidFill>
            <a:srgbClr val="0A1E3D"/>
          </a:solidFill>
          <a:ln/>
          <a:effectLst>
            <a:outerShdw blurRad="152400" dist="508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400800" y="1005840"/>
            <a:ext cx="5303520" cy="502920"/>
          </a:xfrm>
          <a:prstGeom prst="rect">
            <a:avLst/>
          </a:prstGeom>
          <a:solidFill>
            <a:srgbClr val="2EE0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00800" y="10058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E29"/>
                </a:solidFill>
              </a:rPr>
              <a:t>🚀  LO QUE SE AGREGA AHORA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537960" y="1664208"/>
            <a:ext cx="5029200" cy="1417320"/>
          </a:xfrm>
          <a:prstGeom prst="rect">
            <a:avLst/>
          </a:prstGeom>
          <a:solidFill>
            <a:srgbClr val="1120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537960" y="1664208"/>
            <a:ext cx="91440" cy="1417320"/>
          </a:xfrm>
          <a:prstGeom prst="rect">
            <a:avLst/>
          </a:prstGeom>
          <a:solidFill>
            <a:srgbClr val="5F7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629400" y="17556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7315200" y="175564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7EFF"/>
                </a:solidFill>
              </a:rPr>
              <a:t>Nexo Inmobiliario como contraste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15200" y="2167128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Data scrapeada de Nexo — el portal más consultado por el mercado — para mostrar diferencias entre oferta declarada (PME censal) y publicada (Nexo portal).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537960" y="3236976"/>
            <a:ext cx="5029200" cy="1417320"/>
          </a:xfrm>
          <a:prstGeom prst="rect">
            <a:avLst/>
          </a:prstGeom>
          <a:solidFill>
            <a:srgbClr val="1120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537960" y="3236976"/>
            <a:ext cx="91440" cy="1417320"/>
          </a:xfrm>
          <a:prstGeom prst="rect">
            <a:avLst/>
          </a:prstGeom>
          <a:solidFill>
            <a:srgbClr val="26B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629400" y="332841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7315200" y="332841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B7FF"/>
                </a:solidFill>
              </a:rPr>
              <a:t>Informes Power BI públicos gratuitos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315200" y="3739896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Reportes de precios m² y disponibilidad de áreas publicados para consumo general sin login. Acceso libre para el mercado.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537960" y="4809744"/>
            <a:ext cx="5029200" cy="1417320"/>
          </a:xfrm>
          <a:prstGeom prst="rect">
            <a:avLst/>
          </a:prstGeom>
          <a:solidFill>
            <a:srgbClr val="1120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537960" y="4809744"/>
            <a:ext cx="91440" cy="1417320"/>
          </a:xfrm>
          <a:prstGeom prst="rect">
            <a:avLst/>
          </a:prstGeom>
          <a:solidFill>
            <a:srgbClr val="2EE0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629400" y="490118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7315200" y="490118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E0A2"/>
                </a:solidFill>
              </a:rPr>
              <a:t>App IA de Valorización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315200" y="5312664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Calcula el precio de un inmueble por foto o GPS. Cruza con data PME+Nexo para dar un estimado con respaldo CAPECO.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00E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6688"/>
                </a:solidFill>
              </a:rPr>
              <a:t>PME CAPECO × Millennial  |  pme.pe  |  info@mivisualization.com  |  +51 975 113 510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058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61520" cy="82296"/>
          </a:xfrm>
          <a:prstGeom prst="rect">
            <a:avLst/>
          </a:prstGeom>
          <a:solidFill>
            <a:srgbClr val="26B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246888"/>
            <a:ext cx="12161520" cy="54864"/>
          </a:xfrm>
          <a:prstGeom prst="rect">
            <a:avLst/>
          </a:prstGeom>
          <a:solidFill>
            <a:srgbClr val="2EE0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1554480" cy="384048"/>
          </a:xfrm>
          <a:prstGeom prst="rect">
            <a:avLst/>
          </a:prstGeom>
          <a:solidFill>
            <a:srgbClr val="5F7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CONTRASTE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94560" y="50292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40"/>
                </a:solidFill>
              </a:rPr>
              <a:t>PME CAPECO vs Nexo Inmobiliario — ¿Por qué comparar?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024128"/>
            <a:ext cx="11247120" cy="713232"/>
          </a:xfrm>
          <a:prstGeom prst="rect">
            <a:avLst/>
          </a:prstGeom>
          <a:solidFill>
            <a:srgbClr val="0A1E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024128"/>
            <a:ext cx="109728" cy="713232"/>
          </a:xfrm>
          <a:prstGeom prst="rect">
            <a:avLst/>
          </a:prstGeom>
          <a:solidFill>
            <a:srgbClr val="2EE0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1060704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La diferencia entre ambas fuentes </a:t>
            </a:r>
            <a:r>
              <a:rPr lang="en-US" sz="1150" b="1" dirty="0">
                <a:solidFill>
                  <a:srgbClr val="2EE0A2"/>
                </a:solidFill>
              </a:rPr>
              <a:t>ES la información de valor. </a:t>
            </a:r>
            <a:r>
              <a:rPr lang="en-US" sz="1150" dirty="0">
                <a:solidFill>
                  <a:srgbClr val="FFFFFF"/>
                </a:solidFill>
              </a:rPr>
              <a:t>PME registra el 100% del mercado con metodología censal CAPECO. Nexo captura lo que los promotores publican para vender. </a:t>
            </a:r>
            <a:r>
              <a:rPr lang="en-US" sz="1150" b="1" dirty="0">
                <a:solidFill>
                  <a:srgbClr val="26B7FF"/>
                </a:solidFill>
              </a:rPr>
              <a:t>Ver ambas juntas revela: precios inflados, proyectos ocultos, velocidades reales vs comunicadas.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2880360" cy="621792"/>
          </a:xfrm>
          <a:prstGeom prst="rect">
            <a:avLst/>
          </a:prstGeom>
          <a:solidFill>
            <a:srgbClr val="000E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2064" y="1874520"/>
            <a:ext cx="2770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Dimensión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01568" y="1874520"/>
            <a:ext cx="2331720" cy="621792"/>
          </a:xfrm>
          <a:prstGeom prst="rect">
            <a:avLst/>
          </a:prstGeom>
          <a:solidFill>
            <a:srgbClr val="0058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56432" y="1874520"/>
            <a:ext cx="2221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PME CAPECO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(Fuente Censal)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88152" y="1874520"/>
            <a:ext cx="2331720" cy="62179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43016" y="1874520"/>
            <a:ext cx="2221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Nexo Inmobiliario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(Fuente Portal)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74736" y="1874520"/>
            <a:ext cx="3611880" cy="621792"/>
          </a:xfrm>
          <a:prstGeom prst="rect">
            <a:avLst/>
          </a:prstGeom>
          <a:solidFill>
            <a:srgbClr val="2EE0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0" y="1874520"/>
            <a:ext cx="35021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Diferencia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que revela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542032"/>
            <a:ext cx="288036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0352" y="2569464"/>
            <a:ext cx="2734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340"/>
                </a:solidFill>
              </a:rPr>
              <a:t>Cobertura de proyectos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01568" y="2542032"/>
            <a:ext cx="233172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0" y="2569464"/>
            <a:ext cx="2185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58A7"/>
                </a:solidFill>
              </a:rPr>
              <a:t>100% censal verificado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88152" y="2542032"/>
            <a:ext cx="233172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61304" y="2569464"/>
            <a:ext cx="2185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D28D9"/>
                </a:solidFill>
              </a:rPr>
              <a:t>Solo proyectos que pagan publicidad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174736" y="2542032"/>
            <a:ext cx="3611880" cy="621792"/>
          </a:xfrm>
          <a:prstGeom prst="rect">
            <a:avLst/>
          </a:prstGeom>
          <a:solidFill>
            <a:srgbClr val="F0FF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47888" y="2569464"/>
            <a:ext cx="34655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7A4A"/>
                </a:solidFill>
              </a:rPr>
              <a:t>Proyectos sin publicidad pero en venta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200400"/>
            <a:ext cx="2880360" cy="621792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0352" y="3227832"/>
            <a:ext cx="2734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340"/>
                </a:solidFill>
              </a:rPr>
              <a:t>Precio m² publicado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01568" y="3200400"/>
            <a:ext cx="2331720" cy="621792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74720" y="3227832"/>
            <a:ext cx="2185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58A7"/>
                </a:solidFill>
              </a:rPr>
              <a:t>Precio declarado al estudio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788152" y="3200400"/>
            <a:ext cx="2331720" cy="621792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861304" y="3227832"/>
            <a:ext cx="2185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D28D9"/>
                </a:solidFill>
              </a:rPr>
              <a:t>Precio en aviso de venta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74736" y="3200400"/>
            <a:ext cx="3611880" cy="621792"/>
          </a:xfrm>
          <a:prstGeom prst="rect">
            <a:avLst/>
          </a:prstGeom>
          <a:solidFill>
            <a:srgbClr val="F0FF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247888" y="3227832"/>
            <a:ext cx="34655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7A4A"/>
                </a:solidFill>
              </a:rPr>
              <a:t>Inflación o descuento vs precio real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3858768"/>
            <a:ext cx="288036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30352" y="3886200"/>
            <a:ext cx="2734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340"/>
                </a:solidFill>
              </a:rPr>
              <a:t>Stock disponible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01568" y="3858768"/>
            <a:ext cx="233172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474720" y="3886200"/>
            <a:ext cx="2185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58A7"/>
                </a:solidFill>
              </a:rPr>
              <a:t>Unidades certificadas CAPECO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788152" y="3858768"/>
            <a:ext cx="233172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861304" y="3886200"/>
            <a:ext cx="2185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D28D9"/>
                </a:solidFill>
              </a:rPr>
              <a:t>Unidades mostradas en portal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174736" y="3858768"/>
            <a:ext cx="3611880" cy="621792"/>
          </a:xfrm>
          <a:prstGeom prst="rect">
            <a:avLst/>
          </a:prstGeom>
          <a:solidFill>
            <a:srgbClr val="F0FF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247888" y="3886200"/>
            <a:ext cx="34655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7A4A"/>
                </a:solidFill>
              </a:rPr>
              <a:t>Sobrestock o escasez no comunicada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4517136"/>
            <a:ext cx="2880360" cy="621792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30352" y="4544568"/>
            <a:ext cx="2734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340"/>
                </a:solidFill>
              </a:rPr>
              <a:t>Velocidad de ventas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401568" y="4517136"/>
            <a:ext cx="2331720" cy="621792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474720" y="4544568"/>
            <a:ext cx="2185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58A7"/>
                </a:solidFill>
              </a:rPr>
              <a:t>Und/mes por absorción real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788152" y="4517136"/>
            <a:ext cx="2331720" cy="621792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861304" y="4544568"/>
            <a:ext cx="2185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D28D9"/>
                </a:solidFill>
              </a:rPr>
              <a:t>No disponible directamente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174736" y="4517136"/>
            <a:ext cx="3611880" cy="621792"/>
          </a:xfrm>
          <a:prstGeom prst="rect">
            <a:avLst/>
          </a:prstGeom>
          <a:solidFill>
            <a:srgbClr val="F0FF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247888" y="4544568"/>
            <a:ext cx="34655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7A4A"/>
                </a:solidFill>
              </a:rPr>
              <a:t>Verdadera velocidad vs percepción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57200" y="5175504"/>
            <a:ext cx="288036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30352" y="5202936"/>
            <a:ext cx="2734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340"/>
                </a:solidFill>
              </a:rPr>
              <a:t>Tipologías y áreas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401568" y="5175504"/>
            <a:ext cx="233172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474720" y="5202936"/>
            <a:ext cx="2185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58A7"/>
                </a:solidFill>
              </a:rPr>
              <a:t>Detalle técnico completo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788152" y="5175504"/>
            <a:ext cx="233172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861304" y="5202936"/>
            <a:ext cx="2185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D28D9"/>
                </a:solidFill>
              </a:rPr>
              <a:t>Descripción comercial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174736" y="5175504"/>
            <a:ext cx="3611880" cy="621792"/>
          </a:xfrm>
          <a:prstGeom prst="rect">
            <a:avLst/>
          </a:prstGeom>
          <a:solidFill>
            <a:srgbClr val="F0FF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247888" y="5202936"/>
            <a:ext cx="34655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7A4A"/>
                </a:solidFill>
              </a:rPr>
              <a:t>Diferencia área técnica vs área vendida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7200" y="5833872"/>
            <a:ext cx="2880360" cy="621792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30352" y="5861304"/>
            <a:ext cx="2734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340"/>
                </a:solidFill>
              </a:rPr>
              <a:t>Actualización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401568" y="5833872"/>
            <a:ext cx="2331720" cy="621792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474720" y="5861304"/>
            <a:ext cx="2185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58A7"/>
                </a:solidFill>
              </a:rPr>
              <a:t>Trimestral — dato verificado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788152" y="5833872"/>
            <a:ext cx="2331720" cy="621792"/>
          </a:xfrm>
          <a:prstGeom prst="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861304" y="5861304"/>
            <a:ext cx="2185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D28D9"/>
                </a:solidFill>
              </a:rPr>
              <a:t>Diaria — dato sin verificar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8174736" y="5833872"/>
            <a:ext cx="3611880" cy="621792"/>
          </a:xfrm>
          <a:prstGeom prst="rect">
            <a:avLst/>
          </a:prstGeom>
          <a:solidFill>
            <a:srgbClr val="F0FF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247888" y="5861304"/>
            <a:ext cx="34655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7A4A"/>
                </a:solidFill>
              </a:rPr>
              <a:t>Drift de precios en el trimestre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00E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6688"/>
                </a:solidFill>
              </a:rPr>
              <a:t>PME CAPECO × Millennial  |  pme.pe  |  info@mivisualization.com  |  +51 975 113 510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058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61520" cy="82296"/>
          </a:xfrm>
          <a:prstGeom prst="rect">
            <a:avLst/>
          </a:prstGeom>
          <a:solidFill>
            <a:srgbClr val="26B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246888"/>
            <a:ext cx="12161520" cy="54864"/>
          </a:xfrm>
          <a:prstGeom prst="rect">
            <a:avLst/>
          </a:prstGeom>
          <a:solidFill>
            <a:srgbClr val="2EE0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2194560" cy="384048"/>
          </a:xfrm>
          <a:prstGeom prst="rect">
            <a:avLst/>
          </a:prstGeom>
          <a:solidFill>
            <a:srgbClr val="26B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REPORTES PÚBLICOS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502920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40"/>
                </a:solidFill>
              </a:rPr>
              <a:t>Power BI Interactivo — Acceso Gratuito para el Mercado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033272"/>
            <a:ext cx="5303520" cy="1051560"/>
          </a:xfrm>
          <a:prstGeom prst="rect">
            <a:avLst/>
          </a:prstGeom>
          <a:solidFill>
            <a:srgbClr val="0A1E3D"/>
          </a:solidFill>
          <a:ln/>
          <a:effectLst>
            <a:outerShdw blurRad="152400" dist="508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033272"/>
            <a:ext cx="5303520" cy="91440"/>
          </a:xfrm>
          <a:prstGeom prst="rect">
            <a:avLst/>
          </a:prstGeom>
          <a:solidFill>
            <a:srgbClr val="2EE0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143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EE0A2"/>
                </a:solidFill>
              </a:rPr>
              <a:t>🌐  ACCESO LIBRE — SIN REGISTRO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1481328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ABB"/>
                </a:solidFill>
              </a:rPr>
              <a:t>Publicado en pme.pe para uso público general.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9AABB"/>
                </a:solidFill>
              </a:rPr>
              <a:t>Cualquier persona puede consultar precios m² y disponibilidad.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54864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5486400" cy="457200"/>
          </a:xfrm>
          <a:prstGeom prst="rect">
            <a:avLst/>
          </a:prstGeom>
          <a:solidFill>
            <a:srgbClr val="0058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24942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💲  01 — Precios m² por Distrito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2304288"/>
            <a:ext cx="1005840" cy="329184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230428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PME + Nexo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2770632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8A7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Precio promedio m² — 26 distritos de Lima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306324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8A7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Rango mínimo–máximo por zona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3355848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8A7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Precio por tipología: 1D / 2D / 3D+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" y="3648456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8A7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Comparativo PME vs Nexo en mismo periodo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" y="3941064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8A7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Variación trimestral con flecha de tendencia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2240280"/>
            <a:ext cx="54864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17920" y="2240280"/>
            <a:ext cx="5486400" cy="457200"/>
          </a:xfrm>
          <a:prstGeom prst="rect">
            <a:avLst/>
          </a:prstGeom>
          <a:solidFill>
            <a:srgbClr val="5F7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09360" y="224942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🏗️  02 — Disponibilidad de Stock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607040" y="2304288"/>
            <a:ext cx="1005840" cy="329184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607040" y="230428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PME Censal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327648" y="2770632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EFF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Unidades disponibles por distrito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27648" y="306324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EFF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Stock vendido vs disponible (%)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27648" y="3355848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EFF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Velocidad de absorción und/mes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27648" y="3648456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EFF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Proyectos con stock &lt; 5 unidades (alerta)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27648" y="3941064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EFF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Tiempo estimado de cierre de proyecto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434840"/>
            <a:ext cx="54864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7200" y="4434840"/>
            <a:ext cx="5486400" cy="4572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8640" y="444398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🔍  03 — Comparativo PME vs Nexo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46320" y="4498848"/>
            <a:ext cx="1005840" cy="329184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46320" y="449884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Exclusivo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66928" y="4965192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Delta precio publicado vs precio censal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6928" y="525780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Proyectos en PME sin presencia en Nexo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6928" y="5550408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Proyectos en Nexo sin validación PME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66928" y="5843016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Ratio cobertura portal vs universo real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66928" y="6135624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Tendencia de convergencia/divergencia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17920" y="4434840"/>
            <a:ext cx="54864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217920" y="4434840"/>
            <a:ext cx="5486400" cy="457200"/>
          </a:xfrm>
          <a:prstGeom prst="rect">
            <a:avLst/>
          </a:prstGeom>
          <a:solidFill>
            <a:srgbClr val="2EE0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09360" y="444398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📈  04 — Índices de Mercado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10607040" y="4498848"/>
            <a:ext cx="1005840" cy="329184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0607040" y="449884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PME + IA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327648" y="4965192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E0A2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Índice de actividad constructora Lima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27648" y="525780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E0A2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Ticket promedio por NSE y corredor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327648" y="5550408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E0A2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Heatmap de densidad por zona geográfica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327648" y="5843016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E0A2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Alertas de sobreoferta o suboferta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327648" y="6135624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E0A2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Evolución histórica 4 trimestres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63640" y="1033272"/>
            <a:ext cx="5486400" cy="1051560"/>
          </a:xfrm>
          <a:prstGeom prst="rect">
            <a:avLst/>
          </a:prstGeom>
          <a:solidFill>
            <a:srgbClr val="F4F7F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263640" y="1033272"/>
            <a:ext cx="109728" cy="1051560"/>
          </a:xfrm>
          <a:prstGeom prst="rect">
            <a:avLst/>
          </a:prstGeom>
          <a:solidFill>
            <a:srgbClr val="0058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492240" y="107899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8A7"/>
                </a:solidFill>
              </a:rPr>
              <a:t>¿Por qué gratuito?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492240" y="1408176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El reporte público posiciona a CAPECO y PME como el referente de datos del mercado inmobiliario peruano. Genera tráfico, credibilidad y convierte visitantes en suscriptores de reportes premium.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00E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6688"/>
                </a:solidFill>
              </a:rPr>
              <a:t>PME CAPECO × Millennial  |  pme.pe  |  info@mivisualization.com  |  +51 975 113 510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solidFill>
            <a:srgbClr val="2EE0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61520" cy="100584"/>
          </a:xfrm>
          <a:prstGeom prst="rect">
            <a:avLst/>
          </a:prstGeom>
          <a:solidFill>
            <a:srgbClr val="26B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301752"/>
            <a:ext cx="12161520" cy="64008"/>
          </a:xfrm>
          <a:prstGeom prst="rect">
            <a:avLst/>
          </a:prstGeom>
          <a:solidFill>
            <a:srgbClr val="0058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612880" y="365760"/>
            <a:ext cx="118872" cy="6492240"/>
          </a:xfrm>
          <a:prstGeom prst="rect">
            <a:avLst/>
          </a:prstGeom>
          <a:solidFill>
            <a:srgbClr val="2EE0A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750040" y="365760"/>
            <a:ext cx="100584" cy="6492240"/>
          </a:xfrm>
          <a:prstGeom prst="rect">
            <a:avLst/>
          </a:prstGeom>
          <a:solidFill>
            <a:srgbClr val="26B7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41480" y="365760"/>
            <a:ext cx="82296" cy="6492240"/>
          </a:xfrm>
          <a:prstGeom prst="rect">
            <a:avLst/>
          </a:prstGeom>
          <a:solidFill>
            <a:srgbClr val="0058A7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905488" y="365760"/>
            <a:ext cx="64008" cy="6492240"/>
          </a:xfrm>
          <a:prstGeom prst="rect">
            <a:avLst/>
          </a:prstGeom>
          <a:solidFill>
            <a:srgbClr val="5F7EFF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502920"/>
            <a:ext cx="1554480" cy="384048"/>
          </a:xfrm>
          <a:prstGeom prst="rect">
            <a:avLst/>
          </a:prstGeom>
          <a:solidFill>
            <a:srgbClr val="2EE0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5029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🤖 APP 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5029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Valorización de Inmuebles con IA + Data PME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1024128"/>
            <a:ext cx="11247120" cy="566928"/>
          </a:xfrm>
          <a:prstGeom prst="rect">
            <a:avLst/>
          </a:prstGeom>
          <a:solidFill>
            <a:srgbClr val="0A1E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10515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B7FF"/>
                </a:solidFill>
              </a:rPr>
              <a:t>FUENTES DE DATOS DEL MODELO IA: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0" y="1115568"/>
            <a:ext cx="1463040" cy="347472"/>
          </a:xfrm>
          <a:prstGeom prst="rect">
            <a:avLst/>
          </a:prstGeom>
          <a:solidFill>
            <a:srgbClr val="0058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0" y="11155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PME CAPECO (censal)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40680" y="1115568"/>
            <a:ext cx="1463040" cy="347472"/>
          </a:xfrm>
          <a:prstGeom prst="rect">
            <a:avLst/>
          </a:prstGeom>
          <a:solidFill>
            <a:srgbClr val="5F7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40680" y="11155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Nexo Inmobiliario (portal)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40880" y="1115568"/>
            <a:ext cx="1463040" cy="34747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040880" y="11155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Histórico 4 trimestres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641080" y="1115568"/>
            <a:ext cx="1463040" cy="347472"/>
          </a:xfrm>
          <a:prstGeom prst="rect">
            <a:avLst/>
          </a:prstGeom>
          <a:solidFill>
            <a:srgbClr val="26B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41080" y="11155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Variables NSE / Corredor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241280" y="1115568"/>
            <a:ext cx="1463040" cy="347472"/>
          </a:xfrm>
          <a:prstGeom prst="rect">
            <a:avLst/>
          </a:prstGeom>
          <a:solidFill>
            <a:srgbClr val="2EE0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241280" y="11155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Acabados y tipología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063240" y="2433425"/>
            <a:ext cx="274320" cy="91440"/>
          </a:xfrm>
          <a:prstGeom prst="rect">
            <a:avLst/>
          </a:prstGeom>
          <a:solidFill>
            <a:srgbClr val="26B7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1819656"/>
            <a:ext cx="2560320" cy="4215384"/>
          </a:xfrm>
          <a:prstGeom prst="rect">
            <a:avLst/>
          </a:prstGeom>
          <a:solidFill>
            <a:srgbClr val="0A1E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1930505"/>
            <a:ext cx="2560320" cy="566928"/>
          </a:xfrm>
          <a:prstGeom prst="rect">
            <a:avLst/>
          </a:prstGeom>
          <a:solidFill>
            <a:srgbClr val="0058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463040" y="1536192"/>
            <a:ext cx="548640" cy="548640"/>
          </a:xfrm>
          <a:prstGeom prst="ellipse">
            <a:avLst/>
          </a:prstGeom>
          <a:solidFill>
            <a:srgbClr val="2EE0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463040" y="1536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E29"/>
                </a:solidFill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2920" y="1976225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51560" y="2021945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Foto o GPS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5428" y="25831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899BB"/>
                </a:solidFill>
              </a:rPr>
              <a:t>El usuario fotografía el inmueble o activa su GPS. La app extrae coordenadas y tipo de edificación.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43600" y="2433425"/>
            <a:ext cx="274320" cy="91440"/>
          </a:xfrm>
          <a:prstGeom prst="rect">
            <a:avLst/>
          </a:prstGeom>
          <a:solidFill>
            <a:srgbClr val="26B7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337560" y="1819656"/>
            <a:ext cx="2560320" cy="4215384"/>
          </a:xfrm>
          <a:prstGeom prst="rect">
            <a:avLst/>
          </a:prstGeom>
          <a:solidFill>
            <a:srgbClr val="0A1E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337560" y="1930505"/>
            <a:ext cx="2560320" cy="566928"/>
          </a:xfrm>
          <a:prstGeom prst="rect">
            <a:avLst/>
          </a:prstGeom>
          <a:solidFill>
            <a:srgbClr val="0058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343400" y="1536192"/>
            <a:ext cx="548640" cy="548640"/>
          </a:xfrm>
          <a:prstGeom prst="ellipse">
            <a:avLst/>
          </a:prstGeom>
          <a:solidFill>
            <a:srgbClr val="2EE0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343400" y="1536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E29"/>
                </a:solidFill>
              </a:rPr>
              <a:t>2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383280" y="1976225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3931920" y="2021945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Matching de Zona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395788" y="25831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899BB"/>
                </a:solidFill>
              </a:rPr>
              <a:t>Se cruza con la base PME+Nexo: distrito, corredor, tipologías activas, precios m² vigentes del trimestre.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823960" y="2433425"/>
            <a:ext cx="274320" cy="91440"/>
          </a:xfrm>
          <a:prstGeom prst="rect">
            <a:avLst/>
          </a:prstGeom>
          <a:solidFill>
            <a:srgbClr val="26B7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217920" y="1819656"/>
            <a:ext cx="2560320" cy="4215384"/>
          </a:xfrm>
          <a:prstGeom prst="rect">
            <a:avLst/>
          </a:prstGeom>
          <a:solidFill>
            <a:srgbClr val="0A1E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217920" y="1930505"/>
            <a:ext cx="2560320" cy="566928"/>
          </a:xfrm>
          <a:prstGeom prst="rect">
            <a:avLst/>
          </a:prstGeom>
          <a:solidFill>
            <a:srgbClr val="0058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223760" y="1536192"/>
            <a:ext cx="548640" cy="548640"/>
          </a:xfrm>
          <a:prstGeom prst="ellipse">
            <a:avLst/>
          </a:prstGeom>
          <a:solidFill>
            <a:srgbClr val="2EE0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223760" y="1536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E29"/>
                </a:solidFill>
              </a:rPr>
              <a:t>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263640" y="1976225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6812280" y="2021945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Modelo IA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276148" y="25831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899BB"/>
                </a:solidFill>
              </a:rPr>
              <a:t>Algoritmo entrenado con data PME histórica + variables de acabados, área, piso y NSE del distrito.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098280" y="1819656"/>
            <a:ext cx="2560320" cy="4215384"/>
          </a:xfrm>
          <a:prstGeom prst="rect">
            <a:avLst/>
          </a:prstGeom>
          <a:solidFill>
            <a:srgbClr val="0A1E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9098280" y="1930505"/>
            <a:ext cx="2560320" cy="566928"/>
          </a:xfrm>
          <a:prstGeom prst="rect">
            <a:avLst/>
          </a:prstGeom>
          <a:solidFill>
            <a:srgbClr val="0058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0104120" y="1536192"/>
            <a:ext cx="548640" cy="548640"/>
          </a:xfrm>
          <a:prstGeom prst="ellipse">
            <a:avLst/>
          </a:prstGeom>
          <a:solidFill>
            <a:srgbClr val="2EE0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0104120" y="1536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E29"/>
                </a:solidFill>
              </a:rPr>
              <a:t>4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144000" y="1976225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9692640" y="2021945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Valorización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9156508" y="25831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899BB"/>
                </a:solidFill>
              </a:rPr>
              <a:t>Precio estimado con rango de confianza ±8%, comparativo zonal y reporte PDF con sello CAPECO.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9171432" y="3611880"/>
            <a:ext cx="2423160" cy="512064"/>
          </a:xfrm>
          <a:prstGeom prst="rect">
            <a:avLst/>
          </a:prstGeom>
          <a:solidFill>
            <a:srgbClr val="0A1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9171432" y="3611880"/>
            <a:ext cx="73152" cy="512064"/>
          </a:xfrm>
          <a:prstGeom prst="rect">
            <a:avLst/>
          </a:prstGeom>
          <a:solidFill>
            <a:srgbClr val="2EE0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299448" y="361188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D0"/>
                </a:solidFill>
              </a:rPr>
              <a:t>Precio estimado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0698480" y="3611880"/>
            <a:ext cx="868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E0A2"/>
                </a:solidFill>
              </a:rPr>
              <a:t>±8% confianza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9171432" y="4187952"/>
            <a:ext cx="2423160" cy="512064"/>
          </a:xfrm>
          <a:prstGeom prst="rect">
            <a:avLst/>
          </a:prstGeom>
          <a:solidFill>
            <a:srgbClr val="0A1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9171432" y="4187952"/>
            <a:ext cx="73152" cy="512064"/>
          </a:xfrm>
          <a:prstGeom prst="rect">
            <a:avLst/>
          </a:prstGeom>
          <a:solidFill>
            <a:srgbClr val="26B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9299448" y="4187952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D0"/>
                </a:solidFill>
              </a:rPr>
              <a:t>m² del distrito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0698480" y="4187952"/>
            <a:ext cx="868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6B7FF"/>
                </a:solidFill>
              </a:rPr>
              <a:t>vs PME y Nexo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9171432" y="4764024"/>
            <a:ext cx="2423160" cy="512064"/>
          </a:xfrm>
          <a:prstGeom prst="rect">
            <a:avLst/>
          </a:prstGeom>
          <a:solidFill>
            <a:srgbClr val="0A1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9171432" y="4764024"/>
            <a:ext cx="73152" cy="512064"/>
          </a:xfrm>
          <a:prstGeom prst="rect">
            <a:avLst/>
          </a:prstGeom>
          <a:solidFill>
            <a:srgbClr val="0058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9299448" y="4764024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D0"/>
                </a:solidFill>
              </a:rPr>
              <a:t>Informe PDF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698480" y="4764024"/>
            <a:ext cx="868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58A7"/>
                </a:solidFill>
              </a:rPr>
              <a:t>Sello CAPECO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9171432" y="5340096"/>
            <a:ext cx="2423160" cy="512064"/>
          </a:xfrm>
          <a:prstGeom prst="rect">
            <a:avLst/>
          </a:prstGeom>
          <a:solidFill>
            <a:srgbClr val="0A1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9171432" y="5340096"/>
            <a:ext cx="73152" cy="512064"/>
          </a:xfrm>
          <a:prstGeom prst="rect">
            <a:avLst/>
          </a:prstGeom>
          <a:solidFill>
            <a:srgbClr val="5F7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9299448" y="5340096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D0"/>
                </a:solidFill>
              </a:rPr>
              <a:t>Comparativo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10698480" y="5340096"/>
            <a:ext cx="868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F7EFF"/>
                </a:solidFill>
              </a:rPr>
              <a:t>proyectos zona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solidFill>
            <a:srgbClr val="0A1E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40080" y="62179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B7FF"/>
                </a:solidFill>
              </a:rPr>
              <a:t>USUARIOS: 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920240" y="6217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🏦 Bancos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3474720" y="6217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🏢 Inmobiliarias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5029200" y="6217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👤 Compradores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6583680" y="6217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⚖️ Notarías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8138160" y="6217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🏗️ Constructoras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9692640" y="6217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📊 Tasadores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00E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6688"/>
                </a:solidFill>
              </a:rPr>
              <a:t>PME CAPECO × Millennial — App IA Valorización  |  pme.pe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058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61520" cy="82296"/>
          </a:xfrm>
          <a:prstGeom prst="rect">
            <a:avLst/>
          </a:prstGeom>
          <a:solidFill>
            <a:srgbClr val="26B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246888"/>
            <a:ext cx="12161520" cy="54864"/>
          </a:xfrm>
          <a:prstGeom prst="rect">
            <a:avLst/>
          </a:prstGeom>
          <a:solidFill>
            <a:srgbClr val="2EE0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1920240" cy="384048"/>
          </a:xfrm>
          <a:prstGeom prst="rect">
            <a:avLst/>
          </a:prstGeom>
          <a:solidFill>
            <a:srgbClr val="C8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AUSPICIADORES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0" y="5029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40"/>
                </a:solidFill>
              </a:rPr>
              <a:t>Paquetes de Patrocinio PME CAPECO 2025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024128"/>
            <a:ext cx="11247120" cy="658368"/>
          </a:xfrm>
          <a:prstGeom prst="rect">
            <a:avLst/>
          </a:prstGeom>
          <a:solidFill>
            <a:srgbClr val="0A1E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024128"/>
            <a:ext cx="109728" cy="658368"/>
          </a:xfrm>
          <a:prstGeom prst="rect">
            <a:avLst/>
          </a:prstGeom>
          <a:solidFill>
            <a:srgbClr val="C8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1060704"/>
            <a:ext cx="10881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A84B"/>
                </a:solidFill>
              </a:rPr>
              <a:t>MODELO FREEMIUM: </a:t>
            </a:r>
            <a:r>
              <a:rPr lang="en-US" sz="1100" dirty="0">
                <a:solidFill>
                  <a:srgbClr val="FFFFFF"/>
                </a:solidFill>
              </a:rPr>
              <a:t>Los reportes de precios m² y disponibilidad son PUBLIC y GRATUITOS. </a:t>
            </a:r>
            <a:r>
              <a:rPr lang="en-US" sz="1100" dirty="0">
                <a:solidFill>
                  <a:srgbClr val="99AABB"/>
                </a:solidFill>
              </a:rPr>
              <a:t>Esto genera tráfico y visibilidad masiva. Los auspiciadores monetizan su marca frente a ese tráfico calificado (inmobiliarias, compradores, bancos) y acceden además a los módulos avanzados y la App IA.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3566160" cy="5074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3566160" cy="685800"/>
          </a:xfrm>
          <a:prstGeom prst="rect">
            <a:avLst/>
          </a:prstGeom>
          <a:solidFill>
            <a:srgbClr val="8A8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8288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PLATINO 🥇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2606040"/>
            <a:ext cx="3383280" cy="411480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6060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Usuarios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26060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6B7FF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081528"/>
            <a:ext cx="3383280" cy="411480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08152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Variables custom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308152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6B7FF"/>
                </a:solidFill>
              </a:rPr>
              <a:t>15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3557016"/>
            <a:ext cx="3383280" cy="411480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55701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Reportes a medida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355701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6B7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4069080"/>
            <a:ext cx="3383280" cy="54864"/>
          </a:xfrm>
          <a:prstGeom prst="rect">
            <a:avLst/>
          </a:prstGeom>
          <a:solidFill>
            <a:srgbClr val="8A8FA8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" y="418795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26B7FF"/>
                </a:solidFill>
              </a:rPr>
              <a:t>✓  </a:t>
            </a:r>
            <a:r>
              <a:rPr lang="en-US" sz="980" dirty="0">
                <a:solidFill>
                  <a:srgbClr val="4A5568"/>
                </a:solidFill>
              </a:rPr>
              <a:t>Logo en portada del Estudio PME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66928" y="453542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26B7FF"/>
                </a:solidFill>
              </a:rPr>
              <a:t>✓  </a:t>
            </a:r>
            <a:r>
              <a:rPr lang="en-US" sz="980" dirty="0">
                <a:solidFill>
                  <a:srgbClr val="4A5568"/>
                </a:solidFill>
              </a:rPr>
              <a:t>Pop-up exclusivo al ingreso (permanente)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566928" y="488289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26B7FF"/>
                </a:solidFill>
              </a:rPr>
              <a:t>✓  </a:t>
            </a:r>
            <a:r>
              <a:rPr lang="en-US" sz="980" dirty="0">
                <a:solidFill>
                  <a:srgbClr val="4A5568"/>
                </a:solidFill>
              </a:rPr>
              <a:t>Reportes personalizados Power BI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566928" y="523036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26B7FF"/>
                </a:solidFill>
              </a:rPr>
              <a:t>✓  </a:t>
            </a:r>
            <a:r>
              <a:rPr lang="en-US" sz="980" dirty="0">
                <a:solidFill>
                  <a:srgbClr val="0058A7"/>
                </a:solidFill>
              </a:rPr>
              <a:t>Acceso EARLY a App IA Valorización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566928" y="557784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26B7FF"/>
                </a:solidFill>
              </a:rPr>
              <a:t>✓  </a:t>
            </a:r>
            <a:r>
              <a:rPr lang="en-US" sz="980" dirty="0">
                <a:solidFill>
                  <a:srgbClr val="4A5568"/>
                </a:solidFill>
              </a:rPr>
              <a:t>Dashboard privado precios m² por zona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566928" y="592531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26B7FF"/>
                </a:solidFill>
              </a:rPr>
              <a:t>✓  </a:t>
            </a:r>
            <a:r>
              <a:rPr lang="en-US" sz="980" dirty="0">
                <a:solidFill>
                  <a:srgbClr val="4A5568"/>
                </a:solidFill>
              </a:rPr>
              <a:t>Informe de comparativo PME vs Nexo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4206240" y="1828800"/>
            <a:ext cx="3566160" cy="5074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206240" y="1828800"/>
            <a:ext cx="3566160" cy="685800"/>
          </a:xfrm>
          <a:prstGeom prst="rect">
            <a:avLst/>
          </a:prstGeom>
          <a:solidFill>
            <a:srgbClr val="C8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206240" y="18288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ORO 🥈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297680" y="2606040"/>
            <a:ext cx="3383280" cy="411480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389120" y="26060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Usuarios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92240" y="26060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8A84B"/>
                </a:solidFill>
              </a:rPr>
              <a:t>2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297680" y="3081528"/>
            <a:ext cx="3383280" cy="411480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389120" y="308152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Variables custom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92240" y="308152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8A84B"/>
                </a:solidFill>
              </a:rPr>
              <a:t>6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297680" y="3557016"/>
            <a:ext cx="3383280" cy="411480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389120" y="355701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Reportes a medida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92240" y="355701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8A84B"/>
                </a:solidFill>
              </a:rPr>
              <a:t>2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297680" y="4069080"/>
            <a:ext cx="3383280" cy="54864"/>
          </a:xfrm>
          <a:prstGeom prst="rect">
            <a:avLst/>
          </a:prstGeom>
          <a:solidFill>
            <a:srgbClr val="C8A84B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315968" y="418795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C8A84B"/>
                </a:solidFill>
              </a:rPr>
              <a:t>✓  </a:t>
            </a:r>
            <a:r>
              <a:rPr lang="en-US" sz="980" dirty="0">
                <a:solidFill>
                  <a:srgbClr val="4A5568"/>
                </a:solidFill>
              </a:rPr>
              <a:t>Logo en sección auspiciadores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4315968" y="453542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C8A84B"/>
                </a:solidFill>
              </a:rPr>
              <a:t>✓  </a:t>
            </a:r>
            <a:r>
              <a:rPr lang="en-US" sz="980" dirty="0">
                <a:solidFill>
                  <a:srgbClr val="4A5568"/>
                </a:solidFill>
              </a:rPr>
              <a:t>Pop-up al ingreso a la plataforma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4315968" y="488289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C8A84B"/>
                </a:solidFill>
              </a:rPr>
              <a:t>✓  </a:t>
            </a:r>
            <a:r>
              <a:rPr lang="en-US" sz="980" dirty="0">
                <a:solidFill>
                  <a:srgbClr val="4A5568"/>
                </a:solidFill>
              </a:rPr>
              <a:t>Reportes estándar + 1 personalizado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4315968" y="523036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C8A84B"/>
                </a:solidFill>
              </a:rPr>
              <a:t>✓  </a:t>
            </a:r>
            <a:r>
              <a:rPr lang="en-US" sz="980" dirty="0">
                <a:solidFill>
                  <a:srgbClr val="0058A7"/>
                </a:solidFill>
              </a:rPr>
              <a:t>Acceso App IA Valorización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4315968" y="557784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C8A84B"/>
                </a:solidFill>
              </a:rPr>
              <a:t>✓  </a:t>
            </a:r>
            <a:r>
              <a:rPr lang="en-US" sz="980" dirty="0">
                <a:solidFill>
                  <a:srgbClr val="4A5568"/>
                </a:solidFill>
              </a:rPr>
              <a:t>Filtros de datos por zona de interés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4315968" y="592531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C8A84B"/>
                </a:solidFill>
              </a:rPr>
              <a:t>✓  </a:t>
            </a:r>
            <a:r>
              <a:rPr lang="en-US" sz="980" dirty="0">
                <a:solidFill>
                  <a:srgbClr val="4A5568"/>
                </a:solidFill>
              </a:rPr>
              <a:t>Acceso a comparativo PME vs Nexo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7955280" y="1828800"/>
            <a:ext cx="3566160" cy="5074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955280" y="1828800"/>
            <a:ext cx="3566160" cy="685800"/>
          </a:xfrm>
          <a:prstGeom prst="rect">
            <a:avLst/>
          </a:prstGeom>
          <a:solidFill>
            <a:srgbClr val="A0A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955280" y="18288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PLATA 🥉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8046720" y="2606040"/>
            <a:ext cx="3383280" cy="411480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138160" y="26060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Usuarios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0241280" y="26060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A0A8B8"/>
                </a:solidFill>
              </a:rPr>
              <a:t>1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046720" y="3081528"/>
            <a:ext cx="3383280" cy="411480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138160" y="308152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Variables custom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0241280" y="308152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A0A8B8"/>
                </a:solidFill>
              </a:rPr>
              <a:t>2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046720" y="3557016"/>
            <a:ext cx="3383280" cy="411480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8138160" y="355701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Reportes a medida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0241280" y="355701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A0A8B8"/>
                </a:solidFill>
              </a:rPr>
              <a:t>1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046720" y="4069080"/>
            <a:ext cx="3383280" cy="54864"/>
          </a:xfrm>
          <a:prstGeom prst="rect">
            <a:avLst/>
          </a:prstGeom>
          <a:solidFill>
            <a:srgbClr val="A0A8B8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065008" y="418795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A0A8B8"/>
                </a:solidFill>
              </a:rPr>
              <a:t>✓  </a:t>
            </a:r>
            <a:r>
              <a:rPr lang="en-US" sz="980" dirty="0">
                <a:solidFill>
                  <a:srgbClr val="4A5568"/>
                </a:solidFill>
              </a:rPr>
              <a:t>Logo en footer de la plataforma</a:t>
            </a:r>
            <a:endParaRPr lang="en-US" sz="980" dirty="0"/>
          </a:p>
        </p:txBody>
      </p:sp>
      <p:sp>
        <p:nvSpPr>
          <p:cNvPr id="63" name="Text 61"/>
          <p:cNvSpPr/>
          <p:nvPr/>
        </p:nvSpPr>
        <p:spPr>
          <a:xfrm>
            <a:off x="8065008" y="453542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A0A8B8"/>
                </a:solidFill>
              </a:rPr>
              <a:t>✓  </a:t>
            </a:r>
            <a:r>
              <a:rPr lang="en-US" sz="980" dirty="0">
                <a:solidFill>
                  <a:srgbClr val="4A5568"/>
                </a:solidFill>
              </a:rPr>
              <a:t>Inclusión en lista auspiciadores</a:t>
            </a:r>
            <a:endParaRPr lang="en-US" sz="980" dirty="0"/>
          </a:p>
        </p:txBody>
      </p:sp>
      <p:sp>
        <p:nvSpPr>
          <p:cNvPr id="64" name="Text 62"/>
          <p:cNvSpPr/>
          <p:nvPr/>
        </p:nvSpPr>
        <p:spPr>
          <a:xfrm>
            <a:off x="8065008" y="488289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A0A8B8"/>
                </a:solidFill>
              </a:rPr>
              <a:t>✓  </a:t>
            </a:r>
            <a:r>
              <a:rPr lang="en-US" sz="980" dirty="0">
                <a:solidFill>
                  <a:srgbClr val="4A5568"/>
                </a:solidFill>
              </a:rPr>
              <a:t>Reportes estándar PME CAPECO</a:t>
            </a:r>
            <a:endParaRPr lang="en-US" sz="980" dirty="0"/>
          </a:p>
        </p:txBody>
      </p:sp>
      <p:sp>
        <p:nvSpPr>
          <p:cNvPr id="65" name="Text 63"/>
          <p:cNvSpPr/>
          <p:nvPr/>
        </p:nvSpPr>
        <p:spPr>
          <a:xfrm>
            <a:off x="8065008" y="523036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A0A8B8"/>
                </a:solidFill>
              </a:rPr>
              <a:t>✓  </a:t>
            </a:r>
            <a:r>
              <a:rPr lang="en-US" sz="980" dirty="0">
                <a:solidFill>
                  <a:srgbClr val="0058A7"/>
                </a:solidFill>
              </a:rPr>
              <a:t>Acceso visualización pública PME</a:t>
            </a:r>
            <a:endParaRPr lang="en-US" sz="980" dirty="0"/>
          </a:p>
        </p:txBody>
      </p:sp>
      <p:sp>
        <p:nvSpPr>
          <p:cNvPr id="66" name="Text 64"/>
          <p:cNvSpPr/>
          <p:nvPr/>
        </p:nvSpPr>
        <p:spPr>
          <a:xfrm>
            <a:off x="8065008" y="557784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A0A8B8"/>
                </a:solidFill>
              </a:rPr>
              <a:t>✓  </a:t>
            </a:r>
            <a:r>
              <a:rPr lang="en-US" sz="980" dirty="0">
                <a:solidFill>
                  <a:srgbClr val="4A5568"/>
                </a:solidFill>
              </a:rPr>
              <a:t>Capacitación de uso de plataforma</a:t>
            </a:r>
            <a:endParaRPr lang="en-US" sz="980" dirty="0"/>
          </a:p>
        </p:txBody>
      </p:sp>
      <p:sp>
        <p:nvSpPr>
          <p:cNvPr id="67" name="Text 65"/>
          <p:cNvSpPr/>
          <p:nvPr/>
        </p:nvSpPr>
        <p:spPr>
          <a:xfrm>
            <a:off x="8065008" y="592531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A0A8B8"/>
                </a:solidFill>
              </a:rPr>
              <a:t>✓  </a:t>
            </a:r>
            <a:r>
              <a:rPr lang="en-US" sz="980" dirty="0">
                <a:solidFill>
                  <a:srgbClr val="4A5568"/>
                </a:solidFill>
              </a:rPr>
              <a:t>Soporte básico de consultas</a:t>
            </a:r>
            <a:endParaRPr lang="en-US" sz="980" dirty="0"/>
          </a:p>
        </p:txBody>
      </p:sp>
      <p:sp>
        <p:nvSpPr>
          <p:cNvPr id="68" name="Shape 6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00E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6688"/>
                </a:solidFill>
              </a:rPr>
              <a:t>PME CAPECO × Millennial  |  pme.pe  |  info@mivisualization.com  |  +51 975 113 510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058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61520" cy="82296"/>
          </a:xfrm>
          <a:prstGeom prst="rect">
            <a:avLst/>
          </a:prstGeom>
          <a:solidFill>
            <a:srgbClr val="26B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246888"/>
            <a:ext cx="12161520" cy="54864"/>
          </a:xfrm>
          <a:prstGeom prst="rect">
            <a:avLst/>
          </a:prstGeom>
          <a:solidFill>
            <a:srgbClr val="2EE0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1645920" cy="384048"/>
          </a:xfrm>
          <a:prstGeom prst="rect">
            <a:avLst/>
          </a:prstGeom>
          <a:solidFill>
            <a:srgbClr val="26B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ROADMAP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50292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40"/>
                </a:solidFill>
              </a:rPr>
              <a:t>Evolución de la Plataforma PME — 2025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1874520"/>
            <a:ext cx="10424160" cy="64008"/>
          </a:xfrm>
          <a:prstGeom prst="rect">
            <a:avLst/>
          </a:prstGeom>
          <a:solidFill>
            <a:srgbClr val="D0D7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508760" y="1719072"/>
            <a:ext cx="411480" cy="411480"/>
          </a:xfrm>
          <a:prstGeom prst="ellipse">
            <a:avLst/>
          </a:prstGeom>
          <a:solidFill>
            <a:srgbClr val="0058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05156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58A7"/>
                </a:solidFill>
              </a:rPr>
              <a:t>YA EXISTE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137160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</a:rPr>
              <a:t>2022–2024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2651760" cy="4663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2651760" cy="548640"/>
          </a:xfrm>
          <a:prstGeom prst="rect">
            <a:avLst/>
          </a:prstGeom>
          <a:solidFill>
            <a:srgbClr val="0058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PLATAFORMA BASE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0" y="2331720"/>
            <a:ext cx="548640" cy="347472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60320" y="233172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✅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2880360"/>
            <a:ext cx="2514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58A7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PME.pe activo con dashboards PBI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" y="3602736"/>
            <a:ext cx="2514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58A7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Gestión de accesos y usuarios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" y="4325112"/>
            <a:ext cx="2514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58A7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9 auspiciadores operativos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" y="5047488"/>
            <a:ext cx="2514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58A7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Reportes trimestrales CAPECO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" y="5769864"/>
            <a:ext cx="2514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58A7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Acceso PC y móvil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0" y="1719072"/>
            <a:ext cx="411480" cy="411480"/>
          </a:xfrm>
          <a:prstGeom prst="ellipse">
            <a:avLst/>
          </a:prstGeom>
          <a:solidFill>
            <a:srgbClr val="5F7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37560" y="105156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F7EFF"/>
                </a:solidFill>
              </a:rPr>
              <a:t>Q1–Q2 2025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37560" y="137160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</a:rPr>
              <a:t>En progreso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37560" y="2240280"/>
            <a:ext cx="2651760" cy="4663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337560" y="2240280"/>
            <a:ext cx="2651760" cy="548640"/>
          </a:xfrm>
          <a:prstGeom prst="rect">
            <a:avLst/>
          </a:prstGeom>
          <a:solidFill>
            <a:srgbClr val="5F7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37560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NEXO + CONTRASTE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40680" y="2331720"/>
            <a:ext cx="548640" cy="347472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40680" y="233172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🔧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10712" y="2880360"/>
            <a:ext cx="2514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F7EFF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Scraping Nexo automatizado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10712" y="3602736"/>
            <a:ext cx="2514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F7EFF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Módulo comparativo PME vs Nexo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10712" y="4325112"/>
            <a:ext cx="2514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F7EFF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Delta precios m² por distrito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10712" y="5047488"/>
            <a:ext cx="2514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F7EFF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Alertas de divergencia de mercado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10712" y="5769864"/>
            <a:ext cx="2514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F7EFF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Validación de cobertura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269480" y="1719072"/>
            <a:ext cx="411480" cy="411480"/>
          </a:xfrm>
          <a:prstGeom prst="ellipse">
            <a:avLst/>
          </a:prstGeom>
          <a:solidFill>
            <a:srgbClr val="26B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17920" y="105156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6B7FF"/>
                </a:solidFill>
              </a:rPr>
              <a:t>Q2–Abril 2025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217920" y="137160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</a:rPr>
              <a:t>Próximo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17920" y="2240280"/>
            <a:ext cx="2651760" cy="4663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217920" y="2240280"/>
            <a:ext cx="2651760" cy="548640"/>
          </a:xfrm>
          <a:prstGeom prst="rect">
            <a:avLst/>
          </a:prstGeom>
          <a:solidFill>
            <a:srgbClr val="26B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217920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REPORTES PÚBLICOS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321040" y="2331720"/>
            <a:ext cx="548640" cy="347472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321040" y="233172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📋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91072" y="2880360"/>
            <a:ext cx="2514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6B7FF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Power BI embed público (sin login)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91072" y="3602736"/>
            <a:ext cx="2514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6B7FF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Informe precios m² por distrito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91072" y="4325112"/>
            <a:ext cx="2514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6B7FF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Informe disponibilidad y stock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91072" y="5047488"/>
            <a:ext cx="2514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6B7FF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Heatmap geográfico interactivo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291072" y="5769864"/>
            <a:ext cx="2514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6B7FF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Lanzamiento en pme.pe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149840" y="1719072"/>
            <a:ext cx="411480" cy="411480"/>
          </a:xfrm>
          <a:prstGeom prst="ellipse">
            <a:avLst/>
          </a:prstGeom>
          <a:solidFill>
            <a:srgbClr val="2EE0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098280" y="105156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E0A2"/>
                </a:solidFill>
              </a:rPr>
              <a:t>Q2–Mayo 2025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9098280" y="137160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</a:rPr>
              <a:t>Roadmap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098280" y="2240280"/>
            <a:ext cx="2651760" cy="4663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9098280" y="2240280"/>
            <a:ext cx="2651760" cy="548640"/>
          </a:xfrm>
          <a:prstGeom prst="rect">
            <a:avLst/>
          </a:prstGeom>
          <a:solidFill>
            <a:srgbClr val="2EE0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098280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 IA VALORIZACIÓN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1201400" y="2331720"/>
            <a:ext cx="548640" cy="347472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1201400" y="233172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🚀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171432" y="2880360"/>
            <a:ext cx="2514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E0A2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Modelo IA entrenado con PME+Nexo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171432" y="3602736"/>
            <a:ext cx="2514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E0A2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App web: foto o GPS → precio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171432" y="4325112"/>
            <a:ext cx="2514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E0A2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Beta con auspiciadores Platino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171432" y="5047488"/>
            <a:ext cx="2514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E0A2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Reporte PDF con sello CAPECO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9171432" y="5769864"/>
            <a:ext cx="2514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E0A2"/>
                </a:solidFill>
              </a:rPr>
              <a:t>›  </a:t>
            </a:r>
            <a:r>
              <a:rPr lang="en-US" sz="1000" dirty="0">
                <a:solidFill>
                  <a:srgbClr val="4A5568"/>
                </a:solidFill>
              </a:rPr>
              <a:t>API de valorización para socios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00E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6688"/>
                </a:solidFill>
              </a:rPr>
              <a:t>PME CAPECO × Millennial  |  pme.pe  |  info@mivisualization.com  |  +51 975 113 510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solidFill>
            <a:srgbClr val="0058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61520" cy="100584"/>
          </a:xfrm>
          <a:prstGeom prst="rect">
            <a:avLst/>
          </a:prstGeom>
          <a:solidFill>
            <a:srgbClr val="26B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301752"/>
            <a:ext cx="12161520" cy="64008"/>
          </a:xfrm>
          <a:prstGeom prst="rect">
            <a:avLst/>
          </a:prstGeom>
          <a:solidFill>
            <a:srgbClr val="2EE0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11480"/>
            <a:ext cx="164592" cy="6446520"/>
          </a:xfrm>
          <a:prstGeom prst="rect">
            <a:avLst/>
          </a:prstGeom>
          <a:solidFill>
            <a:srgbClr val="0058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4592" y="411480"/>
            <a:ext cx="91440" cy="6446520"/>
          </a:xfrm>
          <a:prstGeom prst="rect">
            <a:avLst/>
          </a:prstGeom>
          <a:solidFill>
            <a:srgbClr val="26B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411480"/>
            <a:ext cx="54864" cy="6446520"/>
          </a:xfrm>
          <a:prstGeom prst="rect">
            <a:avLst/>
          </a:prstGeom>
          <a:solidFill>
            <a:srgbClr val="2EE0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200" dirty="0">
                <a:solidFill>
                  <a:srgbClr val="FFFFFF"/>
                </a:solidFill>
              </a:rPr>
              <a:t>EL PRÓXIMO PASO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6B7FF"/>
                </a:solidFill>
              </a:rPr>
              <a:t>es una conversación de 20 minutos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02920" y="1993392"/>
            <a:ext cx="2926080" cy="91440"/>
          </a:xfrm>
          <a:prstGeom prst="rect">
            <a:avLst/>
          </a:prstGeom>
          <a:solidFill>
            <a:srgbClr val="2EE0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2212848"/>
            <a:ext cx="457200" cy="457200"/>
          </a:xfrm>
          <a:prstGeom prst="ellipse">
            <a:avLst/>
          </a:prstGeom>
          <a:solidFill>
            <a:srgbClr val="0058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51560" y="2240280"/>
            <a:ext cx="6080760" cy="402336"/>
          </a:xfrm>
          <a:prstGeom prst="rect">
            <a:avLst/>
          </a:prstGeom>
          <a:solidFill>
            <a:srgbClr val="0A1E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43000" y="2240280"/>
            <a:ext cx="5897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BD0"/>
                </a:solidFill>
              </a:rPr>
              <a:t>Demo en vivo de los reportes Power BI públicos con data real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127248"/>
            <a:ext cx="457200" cy="457200"/>
          </a:xfrm>
          <a:prstGeom prst="ellipse">
            <a:avLst/>
          </a:prstGeom>
          <a:solidFill>
            <a:srgbClr val="0058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127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51560" y="3154680"/>
            <a:ext cx="6080760" cy="402336"/>
          </a:xfrm>
          <a:prstGeom prst="rect">
            <a:avLst/>
          </a:prstGeom>
          <a:solidFill>
            <a:srgbClr val="0A1E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43000" y="3154680"/>
            <a:ext cx="5897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BD0"/>
                </a:solidFill>
              </a:rPr>
              <a:t>Comparativo PME vs Nexo en tu zona/sector de interés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041648"/>
            <a:ext cx="457200" cy="457200"/>
          </a:xfrm>
          <a:prstGeom prst="ellipse">
            <a:avLst/>
          </a:prstGeom>
          <a:solidFill>
            <a:srgbClr val="0058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4041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51560" y="4069080"/>
            <a:ext cx="6080760" cy="402336"/>
          </a:xfrm>
          <a:prstGeom prst="rect">
            <a:avLst/>
          </a:prstGeom>
          <a:solidFill>
            <a:srgbClr val="0A1E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43000" y="4069080"/>
            <a:ext cx="5897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BD0"/>
                </a:solidFill>
              </a:rPr>
              <a:t>Preview de la App IA de Valorización (beta acceso anticipado)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4956048"/>
            <a:ext cx="457200" cy="457200"/>
          </a:xfrm>
          <a:prstGeom prst="ellipse">
            <a:avLst/>
          </a:prstGeom>
          <a:solidFill>
            <a:srgbClr val="0058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4956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51560" y="4983480"/>
            <a:ext cx="6080760" cy="402336"/>
          </a:xfrm>
          <a:prstGeom prst="rect">
            <a:avLst/>
          </a:prstGeom>
          <a:solidFill>
            <a:srgbClr val="0A1E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43000" y="4983480"/>
            <a:ext cx="5897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BD0"/>
                </a:solidFill>
              </a:rPr>
              <a:t>Propuesta de paquete de auspicio personalizada a tu empresa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5943600"/>
            <a:ext cx="6583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88"/>
                </a:solidFill>
              </a:rPr>
              <a:t>"La inteligencia del mercado inmobiliario de Lima,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56688"/>
                </a:solidFill>
              </a:rPr>
              <a:t>ahora abierta para todos."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72400" y="594360"/>
            <a:ext cx="4114800" cy="6126480"/>
          </a:xfrm>
          <a:prstGeom prst="rect">
            <a:avLst/>
          </a:prstGeom>
          <a:solidFill>
            <a:srgbClr val="0A1E3D"/>
          </a:solidFill>
          <a:ln/>
          <a:effectLst>
            <a:outerShdw blurRad="152400" dist="508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772400" y="594360"/>
            <a:ext cx="4114800" cy="91440"/>
          </a:xfrm>
          <a:prstGeom prst="rect">
            <a:avLst/>
          </a:prstGeom>
          <a:solidFill>
            <a:srgbClr val="2EE0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281160" y="914400"/>
            <a:ext cx="1005840" cy="1005840"/>
          </a:xfrm>
          <a:prstGeom prst="ellipse">
            <a:avLst/>
          </a:prstGeom>
          <a:solidFill>
            <a:srgbClr val="0058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281160" y="9144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◈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mis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863840" y="205740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E0A2"/>
                </a:solidFill>
              </a:rPr>
              <a:t>PME CAPECO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863840" y="250545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B"/>
                </a:solidFill>
              </a:rPr>
              <a:t>Analítica Inmobiliaria con IA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29600" y="2926080"/>
            <a:ext cx="3200400" cy="64008"/>
          </a:xfrm>
          <a:prstGeom prst="rect">
            <a:avLst/>
          </a:prstGeom>
          <a:solidFill>
            <a:srgbClr val="26B7F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909560" y="3090672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6B7FF"/>
                </a:solidFill>
              </a:rPr>
              <a:t>🌐  www.pme.pe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909560" y="3712464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6B7FF"/>
                </a:solidFill>
              </a:rPr>
              <a:t>✉️  info@mivisualization.com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909560" y="4334256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BD0"/>
                </a:solidFill>
              </a:rPr>
              <a:t>📞  +51 975 113 510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909560" y="495604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BD0"/>
                </a:solidFill>
              </a:rPr>
              <a:t>📍  Av. Faustino Sánchez Carrión 790, Lima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955280" y="5486400"/>
            <a:ext cx="3749040" cy="594360"/>
          </a:xfrm>
          <a:prstGeom prst="rect">
            <a:avLst/>
          </a:prstGeom>
          <a:solidFill>
            <a:srgbClr val="2EE0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955280" y="54864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E29"/>
                </a:solidFill>
              </a:rPr>
              <a:t>Agenda tu demo → www.pme.pe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00E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6688"/>
                </a:solidFill>
              </a:rPr>
              <a:t>PME CAPECO × Millennial — 2025  |  Plataforma de Analítica Inmobiliaria con IA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1512</Words>
  <Application>Microsoft Office PowerPoint</Application>
  <PresentationFormat>Widescreen</PresentationFormat>
  <Paragraphs>264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PME CAPECO — Inteligencia Inmobiliaria Aumentada</dc:title>
  <dc:subject>PptxGenJS Presentation</dc:subject>
  <dc:creator>PptxGenJS</dc:creator>
  <cp:lastModifiedBy>Carlos Vera</cp:lastModifiedBy>
  <cp:revision>2</cp:revision>
  <dcterms:created xsi:type="dcterms:W3CDTF">2026-03-06T05:36:41Z</dcterms:created>
  <dcterms:modified xsi:type="dcterms:W3CDTF">2026-03-06T05:52:18Z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2026-03-06T05:52:18Z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2958757b-985d-484e-a7ab-d6f38d770cd8</vt:lpwstr>
  </property>
  <property fmtid="{D5CDD505-2E9C-101B-9397-08002B2CF9AE}" pid="7" name="MSIP_Label_defa4170-0d19-0005-0004-bc88714345d2_ActionId">
    <vt:lpwstr>9f76b6ab-487d-4836-a886-41baf7607205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