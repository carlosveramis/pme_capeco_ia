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0"/>
            <a:ext cx="64008" cy="6858000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6B7FF"/>
                </a:solidFill>
              </a:rPr>
              <a:t>MI VISUALIZATION × PME CAPECO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685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</a:rPr>
              <a:t>MAPA DE OPORTUNIDADES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</a:rPr>
              <a:t>COMERCIALES 2025–2026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6A8"/>
                </a:solidFill>
              </a:rPr>
              <a:t>Nuevos productos, modelos de monetización e integraciones IA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896A8"/>
                </a:solidFill>
              </a:rPr>
              <a:t>para ampliar el ecosistema de auspiciadores y suscriptores en LATAM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E3D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Gremios &amp;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Asociaciones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3832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74720" y="3950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IA Generativa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B2B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E3D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26480" y="3950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as 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33832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🌎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78240" y="3950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Expansión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LATAM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800600"/>
            <a:ext cx="2377440" cy="54864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7 Verticales de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Negocio Identificadas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4800600"/>
            <a:ext cx="2377440" cy="54864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4 Modelos de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Ingreso Nuevos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800600"/>
            <a:ext cx="2377440" cy="54864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USD 180K+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Potencial ARR Año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4800600"/>
            <a:ext cx="2377440" cy="54864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12 Tipos de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Suscriptores Target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Account Manager Estratégico  ·  B2B LATAM  ·  Millennial × Mi Visualization  ·  2025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E29"/>
                </a:solidFill>
              </a:rPr>
              <a:t>EL ECOSISTEMA HOY — Y DÓNDE ESTÁ EL CRECIMIENTO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</a:rPr>
              <a:t>Mi Visualization tiene base sólida. El salto está en monetizar nuevos segmentos con la misma plataforma.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566160" cy="41148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ACTUAL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773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433"/>
                </a:solidFill>
              </a:rPr>
              <a:t>CAPECO / PME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Gremio construcción — gobierno datos inmobiliarios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433"/>
                </a:solidFill>
              </a:rPr>
              <a:t>Vitapro / Alicorp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883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Corporativos — gobierno Power BI interno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433"/>
                </a:solidFill>
              </a:rPr>
              <a:t>UCV / SIPAN / UPC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Educación — retención alumno + analítica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124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433"/>
                </a:solidFill>
              </a:rPr>
              <a:t>Banco GNB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005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Financiero — dashboards seguros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70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4407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1433"/>
                </a:solidFill>
              </a:rPr>
              <a:t>San Miguel Industrial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663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Industrial — reportes operativos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60520" y="3017520"/>
            <a:ext cx="1097280" cy="73152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E0A2"/>
                </a:solidFill>
              </a:rPr>
              <a:t>→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0233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EE0A2"/>
                </a:solidFill>
              </a:rPr>
              <a:t>EXPANDIR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234440"/>
            <a:ext cx="6217920" cy="4114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1234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SEGMENTOS DE ALTO POTENCIAL (AÚN NO CAPTURADOS)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1783080"/>
            <a:ext cx="2971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1783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🏘️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08076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433"/>
                </a:solidFill>
              </a:rPr>
              <a:t>Gremios &amp; Cámaras LATAM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075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ASEI, Capeco Chile/Colombia, SCI — modelo PME replicable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2368296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0058A7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2368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+USD 2,500/mes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686800" y="1783080"/>
            <a:ext cx="2971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0808" y="17830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3544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433"/>
                </a:solidFill>
              </a:rPr>
              <a:t>Bancos &amp; Fondos de Inversión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2075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Tasación algorítmica, riesgo hipotecario, data inmobiliaria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235440" y="2368296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5F7EFF"/>
          </a:solidFill>
          <a:ln/>
        </p:spPr>
      </p:sp>
      <p:sp>
        <p:nvSpPr>
          <p:cNvPr id="43" name="Text 41"/>
          <p:cNvSpPr/>
          <p:nvPr/>
        </p:nvSpPr>
        <p:spPr>
          <a:xfrm>
            <a:off x="9235440" y="2368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+USD 4,000/mes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32120" y="2743200"/>
            <a:ext cx="2971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08076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433"/>
                </a:solidFill>
              </a:rPr>
              <a:t>Retail &amp; Cadenas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3035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BI generativa para decisiones de expansión geográfica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80760" y="3328416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26B7FF"/>
          </a:solidFill>
          <a:ln/>
        </p:spPr>
      </p:sp>
      <p:sp>
        <p:nvSpPr>
          <p:cNvPr id="49" name="Text 47"/>
          <p:cNvSpPr/>
          <p:nvPr/>
        </p:nvSpPr>
        <p:spPr>
          <a:xfrm>
            <a:off x="6080760" y="33284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+USD 1,800/mes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686800" y="2743200"/>
            <a:ext cx="2971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50808" y="27432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23544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433"/>
                </a:solidFill>
              </a:rPr>
              <a:t>Salud &amp; Clínicas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235440" y="3035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Gobierno de reportes clínicos + analítica de pacientes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235440" y="3328416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2EE0A2"/>
          </a:solidFill>
          <a:ln/>
        </p:spPr>
      </p:sp>
      <p:sp>
        <p:nvSpPr>
          <p:cNvPr id="55" name="Text 53"/>
          <p:cNvSpPr/>
          <p:nvPr/>
        </p:nvSpPr>
        <p:spPr>
          <a:xfrm>
            <a:off x="9235440" y="33284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+USD 1,500/mes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532120" y="3703320"/>
            <a:ext cx="2971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96128" y="3703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08076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433"/>
                </a:solidFill>
              </a:rPr>
              <a:t>Proptech &amp; Apps Inmobiliarias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08076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API de valorización como servicio para portales web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80760" y="4288536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C8A84B"/>
          </a:solidFill>
          <a:ln/>
        </p:spPr>
      </p:sp>
      <p:sp>
        <p:nvSpPr>
          <p:cNvPr id="61" name="Text 59"/>
          <p:cNvSpPr/>
          <p:nvPr/>
        </p:nvSpPr>
        <p:spPr>
          <a:xfrm>
            <a:off x="6080760" y="4288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+USD 3,000/mes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686800" y="3703320"/>
            <a:ext cx="29718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50808" y="3703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923544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1433"/>
                </a:solidFill>
              </a:rPr>
              <a:t>Gobierno &amp; Municipalidades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23544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Transparencia de datos públicos + reportería obligatoria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235440" y="4288536"/>
            <a:ext cx="1005840" cy="182880"/>
          </a:xfrm>
          <a:prstGeom prst="roundRect">
            <a:avLst>
              <a:gd name="adj" fmla="val 20000"/>
            </a:avLst>
          </a:prstGeom>
          <a:solidFill>
            <a:srgbClr val="0058A7"/>
          </a:solidFill>
          <a:ln/>
        </p:spPr>
      </p:sp>
      <p:sp>
        <p:nvSpPr>
          <p:cNvPr id="67" name="Text 65"/>
          <p:cNvSpPr/>
          <p:nvPr/>
        </p:nvSpPr>
        <p:spPr>
          <a:xfrm>
            <a:off x="9235440" y="4288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+USD 2,000/mes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486400" y="5760720"/>
            <a:ext cx="6217920" cy="594360"/>
          </a:xfrm>
          <a:prstGeom prst="roundRect">
            <a:avLst>
              <a:gd name="adj" fmla="val 12308"/>
            </a:avLst>
          </a:prstGeom>
          <a:solidFill>
            <a:srgbClr val="0A1E3D"/>
          </a:solidFill>
          <a:ln/>
        </p:spPr>
      </p:sp>
      <p:sp>
        <p:nvSpPr>
          <p:cNvPr id="69" name="Text 67"/>
          <p:cNvSpPr/>
          <p:nvPr/>
        </p:nvSpPr>
        <p:spPr>
          <a:xfrm>
            <a:off x="5577840" y="5760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</a:rPr>
              <a:t>POTENCIAL MRR ADICIONAL AÑO 1 (capturando 30% de estos segmentos):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784080" y="5760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E0A2"/>
                </a:solidFill>
              </a:rPr>
              <a:t>USD 14,800 / mes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72" name="Shape 70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14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58A7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GREMIOS &amp; ASOCIACIONES — EL MODELO PME COMO FRANQUICIA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Replicar el éxito de CAPECO/PME en otras cámaras de la industria. El producto ya existe — solo cambia el tenant.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2286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2EE0A2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0" y="228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E29"/>
                </a:solidFill>
              </a:rPr>
              <a:t>ALTA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E29"/>
                </a:solidFill>
              </a:rPr>
              <a:t>PRIORIDAD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41433"/>
                </a:solidFill>
              </a:rPr>
              <a:t>TARGETS INMEDIATOS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5029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54480"/>
            <a:ext cx="91440" cy="77724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09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1433"/>
                </a:solidFill>
              </a:rPr>
              <a:t>ASEI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1609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58A7"/>
                </a:solidFill>
              </a:rPr>
              <a:t>🔥 HOT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187452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Asoc. de Empresas Inmobiliarias del Perú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0574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41433"/>
                </a:solidFill>
              </a:rPr>
              <a:t>Reportes de venta por distrito, inventario disponible — ya conocen PME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441448"/>
            <a:ext cx="5029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41448"/>
            <a:ext cx="91440" cy="77724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496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1433"/>
                </a:solidFill>
              </a:rPr>
              <a:t>CAPECO Chile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⭐ NEXT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27614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Cámara Chilena de Construcción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294436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41433"/>
                </a:solidFill>
              </a:rPr>
              <a:t>Misma estructura PME, mercado 3x más grande, en búsqueda de digitalización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328416"/>
            <a:ext cx="5029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28416"/>
            <a:ext cx="91440" cy="777240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1433"/>
                </a:solidFill>
              </a:rPr>
              <a:t>CAMACOL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F7EFF"/>
                </a:solidFill>
              </a:rPr>
              <a:t>⭐ NEXT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" y="36484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Cámara Colombiana de la Construcción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6928" y="38313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41433"/>
                </a:solidFill>
              </a:rPr>
              <a:t>Informe Camacol equivalente al PME — 200+ empresas afiliadas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4215384"/>
            <a:ext cx="5029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215384"/>
            <a:ext cx="91440" cy="777240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270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1433"/>
                </a:solidFill>
              </a:rPr>
              <a:t>CCHC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📋 PLAN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453542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Cámara Chilena + Socios Regionales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47183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41433"/>
                </a:solidFill>
              </a:rPr>
              <a:t>Datos regionales por ciudad: Santiago, Valparaíso, Concepción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5102352"/>
            <a:ext cx="5029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5102352"/>
            <a:ext cx="91440" cy="77724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5157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1433"/>
                </a:solidFill>
              </a:rPr>
              <a:t>MEF / BCRP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14800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A84B"/>
                </a:solidFill>
              </a:rPr>
              <a:t>📋 PLAN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" y="54223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Instituciones públicas con data inmobiliaria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" y="56052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41433"/>
                </a:solidFill>
              </a:rPr>
              <a:t>Visualización pública de índices de precios y disponibilidad nacional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69280" y="1143000"/>
            <a:ext cx="6126480" cy="5120640"/>
          </a:xfrm>
          <a:prstGeom prst="roundRect">
            <a:avLst>
              <a:gd name="adj" fmla="val 1786"/>
            </a:avLst>
          </a:prstGeom>
          <a:solidFill>
            <a:srgbClr val="0A1E3D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0" y="12801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 MODELO: PME COMO FRANQUICIA DE DATOS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52160" y="1874520"/>
            <a:ext cx="411480" cy="411480"/>
          </a:xfrm>
          <a:prstGeom prst="ellipse">
            <a:avLst/>
          </a:prstGeom>
          <a:solidFill>
            <a:srgbClr val="0058A7"/>
          </a:solidFill>
          <a:ln/>
        </p:spPr>
      </p:sp>
      <p:sp>
        <p:nvSpPr>
          <p:cNvPr id="43" name="Text 41"/>
          <p:cNvSpPr/>
          <p:nvPr/>
        </p:nvSpPr>
        <p:spPr>
          <a:xfrm>
            <a:off x="58521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E29"/>
                </a:solidFill>
              </a:rPr>
              <a:t>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0" y="18470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Tenant Propio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8"/>
                </a:solidFill>
              </a:rPr>
              <a:t>Cada gremio tiene su instancia de Mi Visualization con su marca, colores y dominio propio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52160" y="2679192"/>
            <a:ext cx="411480" cy="411480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47" name="Text 45"/>
          <p:cNvSpPr/>
          <p:nvPr/>
        </p:nvSpPr>
        <p:spPr>
          <a:xfrm>
            <a:off x="585216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E29"/>
                </a:solidFill>
              </a:rPr>
              <a:t>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0" y="2651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Local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2907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8"/>
                </a:solidFill>
              </a:rPr>
              <a:t>Conecta sus propias fuentes de datos: encuestas, registros, portales scrapeados del mercado local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52160" y="3483864"/>
            <a:ext cx="411480" cy="411480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E29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00800" y="3456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Reportes PME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0" y="37124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8"/>
                </a:solidFill>
              </a:rPr>
              <a:t>Plantillas de reportes equivalentes al Estudio de Edificaciones CAPECO, adaptadas a cada mercado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52160" y="4288536"/>
            <a:ext cx="411480" cy="411480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55" name="Text 53"/>
          <p:cNvSpPr/>
          <p:nvPr/>
        </p:nvSpPr>
        <p:spPr>
          <a:xfrm>
            <a:off x="585216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E29"/>
                </a:solidFill>
              </a:rPr>
              <a:t>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400800" y="42611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 Generativa Claude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0" y="45171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8"/>
                </a:solidFill>
              </a:rPr>
              <a:t>Asistente IA integrado que responde preguntas del mercado en lenguaje natural a los suscriptores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852160" y="5093208"/>
            <a:ext cx="411480" cy="41148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59" name="Text 57"/>
          <p:cNvSpPr/>
          <p:nvPr/>
        </p:nvSpPr>
        <p:spPr>
          <a:xfrm>
            <a:off x="5852160" y="5093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E29"/>
                </a:solidFill>
              </a:rPr>
              <a:t>5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00800" y="50657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Monetización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0" y="53218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96A8"/>
                </a:solidFill>
              </a:rPr>
              <a:t>Venden acceso a sus afiliados y sponsors con el mismo modelo de auspicio que CAPECO en Perú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69280" y="5806440"/>
            <a:ext cx="6126480" cy="411480"/>
          </a:xfrm>
          <a:prstGeom prst="roundRect">
            <a:avLst>
              <a:gd name="adj" fmla="val 13333"/>
            </a:avLst>
          </a:prstGeom>
          <a:solidFill>
            <a:srgbClr val="2EE0A2"/>
          </a:solidFill>
          <a:ln/>
        </p:spPr>
      </p:sp>
      <p:sp>
        <p:nvSpPr>
          <p:cNvPr id="63" name="Text 61"/>
          <p:cNvSpPr/>
          <p:nvPr/>
        </p:nvSpPr>
        <p:spPr>
          <a:xfrm>
            <a:off x="5669280" y="58064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E29"/>
                </a:solidFill>
              </a:rPr>
              <a:t>Precio base por gremio: USD 800–1,500/mes  ·  Setup: USD 3,000–5,000  ·  5 gremios = USD 60K ARR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65" name="Shape 63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66" name="Shape 64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14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F7EFF"/>
                </a:solidFill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BANCOS &amp; FONDOS — DATA AS A SERVICE INMOBILIARIO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La data PME + Nexo tiene un valor enorme para quien otorga créditos hipotecarios o evalúa inversiones. Ellos pagan por acceso API.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607040" y="2286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5F7EFF"/>
          </a:solidFill>
          <a:ln/>
        </p:spPr>
      </p:sp>
      <p:sp>
        <p:nvSpPr>
          <p:cNvPr id="8" name="Text 6"/>
          <p:cNvSpPr/>
          <p:nvPr/>
        </p:nvSpPr>
        <p:spPr>
          <a:xfrm>
            <a:off x="10607040" y="228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TICKET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3657600" cy="5303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43000"/>
            <a:ext cx="3657600" cy="73152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41433"/>
                </a:solidFill>
              </a:rPr>
              <a:t>Tasación Algorítmica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251460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EFF"/>
                </a:solidFill>
              </a:rPr>
              <a:t>ValorIA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291840" cy="27432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26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6A8"/>
                </a:solidFill>
              </a:rPr>
              <a:t>Endpoint REST que recibe: coordenadas GPS + área + tipología + piso. Devuelve: precio estimado ±8%, banda de confianza, comparables de zona. Entrenado con PME histórico + Nexo + variables NSE.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41433"/>
                </a:solidFill>
              </a:rPr>
              <a:t>👥  Bancos hipotecarios, tasadores, notarías, plataformas proptech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0A1E3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846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USD 0.05–0.15 / consulta  ·  volumen mínimo 5,000/mes = USD 250+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61104" y="1143000"/>
            <a:ext cx="3657600" cy="5303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1104" y="1143000"/>
            <a:ext cx="3657600" cy="73152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22" name="Text 20"/>
          <p:cNvSpPr/>
          <p:nvPr/>
        </p:nvSpPr>
        <p:spPr>
          <a:xfrm>
            <a:off x="4261104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398264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41433"/>
                </a:solidFill>
              </a:rPr>
              <a:t>Riesgo Hipotecario Dashboard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84064" y="251460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084064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8A7"/>
                </a:solidFill>
              </a:rPr>
              <a:t>CreditBI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43984" y="2834640"/>
            <a:ext cx="3291840" cy="27432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398264" y="2926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6A8"/>
                </a:solidFill>
              </a:rPr>
              <a:t>Panel Power BI embebido con: stock disponible por zona, velocidad de ventas, proyectos parados, índice de absorción. El banco integra datos de su cartera con el contexto de mercado PME.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98264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41433"/>
                </a:solidFill>
              </a:rPr>
              <a:t>👥  Gerentes de riesgo, comités de crédito, analistas hipotecarios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52544" y="48463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0A1E3D"/>
          </a:solidFill>
          <a:ln/>
        </p:spPr>
      </p:sp>
      <p:sp>
        <p:nvSpPr>
          <p:cNvPr id="30" name="Text 28"/>
          <p:cNvSpPr/>
          <p:nvPr/>
        </p:nvSpPr>
        <p:spPr>
          <a:xfrm>
            <a:off x="4398264" y="4846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USD 1,500–3,000/mes por banco  ·  incluye hasta 50 usuarios viewer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56448" y="1143000"/>
            <a:ext cx="3657600" cy="5303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1143000"/>
            <a:ext cx="3657600" cy="73152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33" name="Text 31"/>
          <p:cNvSpPr/>
          <p:nvPr/>
        </p:nvSpPr>
        <p:spPr>
          <a:xfrm>
            <a:off x="8156448" y="1280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293608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41433"/>
                </a:solidFill>
              </a:rPr>
              <a:t>Inteligencia de Mercado SaaS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79408" y="251460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8979408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MarketPulse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39328" y="2834640"/>
            <a:ext cx="3291840" cy="27432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293608" y="29260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6A8"/>
                </a:solidFill>
              </a:rPr>
              <a:t>Suscripción mensual a reportes Power BI interactivos: precios m² por corredor, comparativo PME vs Nexo, heatmaps de demanda, alertas de cambio de mercado. Acceso web sin licencias.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93608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41433"/>
                </a:solidFill>
              </a:rPr>
              <a:t>👥  Fondos inmobiliarios, REITs, family offices, consultoras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47888" y="48463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0A1E3D"/>
          </a:solidFill>
          <a:ln/>
        </p:spPr>
      </p:sp>
      <p:sp>
        <p:nvSpPr>
          <p:cNvPr id="41" name="Text 39"/>
          <p:cNvSpPr/>
          <p:nvPr/>
        </p:nvSpPr>
        <p:spPr>
          <a:xfrm>
            <a:off x="8293608" y="4846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USD 400–800/mes por fondo  ·  sin límite de usuarios viewer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6400800"/>
            <a:ext cx="11430000" cy="320040"/>
          </a:xfrm>
          <a:prstGeom prst="roundRect">
            <a:avLst>
              <a:gd name="adj" fmla="val 17143"/>
            </a:avLst>
          </a:prstGeom>
          <a:solidFill>
            <a:srgbClr val="0A1E3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🎯  Primer cliente objetivo:  Banco GNB (ya cliente MiViz) — proponer upgrade a módulo CreditBI con datos PME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BI GENERATIVA × CLAUDE — EL DIFERENCIADOR COMPETITIVO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Microsoft Copilot requiere licencias premium. Power BI no habla en castellano contextualizado. Mi Visualization + Claude SÍ.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0A1E3D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❌  SIN BI GENERATIVA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—  Gerente abre Power BI → no entiende qué mirar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—  Llama al analista para interpretar → cuello de botella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—  Decisión lenta o basada en intuición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—  ROI del reporte = bajo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0" y="109728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0A2"/>
                </a:solidFill>
              </a:rPr>
              <a:t>✅  CON BI GENERATIVA (Claude)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1554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✓  Gerente abre reporte → panel Claude analiza en tiempo real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0" y="17922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✓  '¿Qué región está en riesgo esta semana?' → respuesta inmediata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0" y="2029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✓  Decisión tomada en la misma sesión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0" y="2267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✓  ROI del reporte = 5x mayor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38160" y="109728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0A1E3D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84B"/>
                </a:solidFill>
              </a:rPr>
              <a:t>💰  VENTAJA DE COSTO vs COPILOT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1554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Microsoft Copilot para Power BI: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0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USD 30/usuario/mes (requiere Fabric)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1993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Mi Visualization + Claude (post-render):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2194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USD 0.008/consulta — sin licencias extra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3957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84B"/>
                </a:solidFill>
              </a:rPr>
              <a:t>Ahorro 80–95% vs Microsoft Fabric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6B7FF"/>
                </a:solidFill>
              </a:rPr>
              <a:t>VERTICALES DE BI GENERATIVA CON MAYOR TRACCIÓN COMERCIAL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A1E3D"/>
          </a:solidFill>
          <a:ln w="12700">
            <a:solidFill>
              <a:srgbClr val="041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🏗️  Construcción / PME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65760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1A2D5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26B7FF"/>
                </a:solidFill>
              </a:rPr>
              <a:t>'¿Qué distritos tienen el precio m² más subiendo este trimestre?'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4187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EE0A2"/>
                </a:solidFill>
              </a:rPr>
              <a:t>→  Decisiones de inversión en tiempo real para gerentes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78808" y="32004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A1E3D"/>
          </a:solidFill>
          <a:ln w="12700">
            <a:solidFill>
              <a:srgbClr val="041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88536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Educación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88536" y="365760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1A2D50"/>
          </a:solidFill>
          <a:ln/>
        </p:spPr>
      </p:sp>
      <p:sp>
        <p:nvSpPr>
          <p:cNvPr id="34" name="Text 32"/>
          <p:cNvSpPr/>
          <p:nvPr/>
        </p:nvSpPr>
        <p:spPr>
          <a:xfrm>
            <a:off x="4343400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26B7FF"/>
                </a:solidFill>
              </a:rPr>
              <a:t>'¿Qué alumnos tienen mayor riesgo de desertar este ciclo?'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88536" y="4187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EE0A2"/>
                </a:solidFill>
              </a:rPr>
              <a:t>→  Retención proactiva — ahorro en costo de adquisición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83296" y="32004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A1E3D"/>
          </a:solidFill>
          <a:ln w="12700">
            <a:solidFill>
              <a:srgbClr val="0414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🏦  Financiero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93024" y="365760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1A2D50"/>
          </a:solidFill>
          <a:ln/>
        </p:spPr>
      </p:sp>
      <p:sp>
        <p:nvSpPr>
          <p:cNvPr id="39" name="Text 37"/>
          <p:cNvSpPr/>
          <p:nvPr/>
        </p:nvSpPr>
        <p:spPr>
          <a:xfrm>
            <a:off x="8247888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26B7FF"/>
                </a:solidFill>
              </a:rPr>
              <a:t>'¿Cómo cerró el EBITDA este mes vs el plan y qué lo explica?'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93024" y="4187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EE0A2"/>
                </a:solidFill>
              </a:rPr>
              <a:t>→  Reportes CFO en segundos, no horas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7091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A1E3D"/>
          </a:solidFill>
          <a:ln w="12700">
            <a:solidFill>
              <a:srgbClr val="0414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00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🛒  Retail / Cadenas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4048" y="516636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1A2D50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" y="5184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26B7FF"/>
                </a:solidFill>
              </a:rPr>
              <a:t>'¿Qué tienda tiene el peor ratio conversión/tráfico esta semana?'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048" y="5696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EE0A2"/>
                </a:solidFill>
              </a:rPr>
              <a:t>→  Field decisions sin esperar análisis del área BI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78808" y="47091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A1E3D"/>
          </a:solidFill>
          <a:ln w="12700">
            <a:solidFill>
              <a:srgbClr val="0414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88536" y="4800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 Clínicas / Salud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88536" y="516636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1A2D50"/>
          </a:solidFill>
          <a:ln/>
        </p:spPr>
      </p:sp>
      <p:sp>
        <p:nvSpPr>
          <p:cNvPr id="49" name="Text 47"/>
          <p:cNvSpPr/>
          <p:nvPr/>
        </p:nvSpPr>
        <p:spPr>
          <a:xfrm>
            <a:off x="4343400" y="5184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26B7FF"/>
                </a:solidFill>
              </a:rPr>
              <a:t>'¿Cuál es la especialidad con mayor tiempo de espera promedio hoy?'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88536" y="5696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EE0A2"/>
                </a:solidFill>
              </a:rPr>
              <a:t>→  Gestión operativa en tiempo real por el gerente clínico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083296" y="47091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A1E3D"/>
          </a:solidFill>
          <a:ln w="12700">
            <a:solidFill>
              <a:srgbClr val="0414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93024" y="4800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Industrial / OPS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193024" y="516636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1A2D50"/>
          </a:solidFill>
          <a:ln/>
        </p:spPr>
      </p:sp>
      <p:sp>
        <p:nvSpPr>
          <p:cNvPr id="54" name="Text 52"/>
          <p:cNvSpPr/>
          <p:nvPr/>
        </p:nvSpPr>
        <p:spPr>
          <a:xfrm>
            <a:off x="8247888" y="5184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26B7FF"/>
                </a:solidFill>
              </a:rPr>
              <a:t>'¿Qué máquina tiene mayor número de paradas no programadas este mes?'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93024" y="56967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EE0A2"/>
                </a:solidFill>
              </a:rPr>
              <a:t>→  Mantenimiento predictivo desde dashboards operativos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57" name="Shape 55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58" name="Shape 56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E29"/>
                </a:solidFill>
              </a:rPr>
              <a:t>TRES OPORTUNIDADES DE EXPANSIÓN SECTORIAL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Sectores donde la propuesta de valor de Mi Visualization es directamente aplicable con ajuste mínimo de producto.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794760" cy="54406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26B7FF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08760"/>
            <a:ext cx="3794760" cy="22860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789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E29"/>
                </a:solidFill>
              </a:rPr>
              <a:t>04  🏘️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E29"/>
                </a:solidFill>
              </a:rPr>
              <a:t>PROPTECH &amp; PORTALES INMOBILIARIOS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</a:rPr>
              <a:t>API de Valorización + Data PME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487168"/>
            <a:ext cx="45720" cy="640080"/>
          </a:xfrm>
          <a:prstGeom prst="rect">
            <a:avLst/>
          </a:prstGeom>
          <a:solidFill>
            <a:srgbClr val="FFAAA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87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3333"/>
                </a:solidFill>
              </a:rPr>
              <a:t>PAIN: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670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Portales como Urbania, A Donde Vivir o Properati no tienen una capa de valuación confiable con datos censales. Ofrecen precios de lista, no de mercado real.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3264408"/>
            <a:ext cx="45720" cy="658368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264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8A7"/>
                </a:solidFill>
              </a:rPr>
              <a:t>SOLUCIÓN: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34472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Mi Visualization provee una API de valorización con datos PME+Nexo que el portal puede embeber. El usuario final ve 'Precio estimado por PME CAPECO' — que es una marca de confianza.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4069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1433"/>
                </a:solidFill>
              </a:rPr>
              <a:t>🎯  Targets: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427024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Urbania.pe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444398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A dónde vivir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461772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Nexo Inmobiliario (directa)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4791456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Aptitus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496519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LaEncontre.com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6080760"/>
            <a:ext cx="3566160" cy="320040"/>
          </a:xfrm>
          <a:prstGeom prst="roundRect">
            <a:avLst>
              <a:gd name="adj" fmla="val 14286"/>
            </a:avLst>
          </a:prstGeom>
          <a:solidFill>
            <a:srgbClr val="0A1E3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608076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portales × USD 750 = USD 3,750/mes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1051560"/>
            <a:ext cx="3794760" cy="54406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10515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2EE0A2"/>
          </a:solidFill>
          <a:ln/>
        </p:spPr>
      </p:sp>
      <p:sp>
        <p:nvSpPr>
          <p:cNvPr id="27" name="Shape 25"/>
          <p:cNvSpPr/>
          <p:nvPr/>
        </p:nvSpPr>
        <p:spPr>
          <a:xfrm>
            <a:off x="4251960" y="1508760"/>
            <a:ext cx="3794760" cy="228600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10789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E29"/>
                </a:solidFill>
              </a:rPr>
              <a:t>05  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61688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E29"/>
                </a:solidFill>
              </a:rPr>
              <a:t>RETAIL &amp; CADENAS DE TIENDAS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6168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</a:rPr>
              <a:t>BI Generativa para Expansión Geográfica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61688" y="2487168"/>
            <a:ext cx="45720" cy="640080"/>
          </a:xfrm>
          <a:prstGeom prst="rect">
            <a:avLst/>
          </a:prstGeom>
          <a:solidFill>
            <a:srgbClr val="FFAAAA"/>
          </a:solidFill>
          <a:ln/>
        </p:spPr>
      </p:sp>
      <p:sp>
        <p:nvSpPr>
          <p:cNvPr id="32" name="Text 30"/>
          <p:cNvSpPr/>
          <p:nvPr/>
        </p:nvSpPr>
        <p:spPr>
          <a:xfrm>
            <a:off x="4453128" y="2487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3333"/>
                </a:solidFill>
              </a:rPr>
              <a:t>PAIN: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53128" y="2670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Cadenas como Promart, Ripley o Cineplanet toman decisiones de expansión basadas en estudios de mercado caros y lentos. No tienen acceso en tiempo real a data inmobiliaria del mercado.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61688" y="3264408"/>
            <a:ext cx="45720" cy="658368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35" name="Text 33"/>
          <p:cNvSpPr/>
          <p:nvPr/>
        </p:nvSpPr>
        <p:spPr>
          <a:xfrm>
            <a:off x="4453128" y="3264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8A7"/>
                </a:solidFill>
              </a:rPr>
              <a:t>SOLUCIÓN: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53128" y="34472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Dashboard integrado: datos internos de ventas por tienda + datos PME de su zona de influencia + IA que responde '¿abrimos en ese distrito?'. Decisión estratégica en 20 minutos.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61688" y="4069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1433"/>
                </a:solidFill>
              </a:rPr>
              <a:t>🎯  Targets: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53128" y="427024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Promart Homecenter (ya cliente)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53128" y="444398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Cineplanet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53128" y="461772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Ripley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53128" y="4791456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Bembos / fast food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53128" y="496519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Farmacias Inka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61688" y="6080760"/>
            <a:ext cx="3566160" cy="320040"/>
          </a:xfrm>
          <a:prstGeom prst="roundRect">
            <a:avLst>
              <a:gd name="adj" fmla="val 14286"/>
            </a:avLst>
          </a:prstGeom>
          <a:solidFill>
            <a:srgbClr val="0A1E3D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608076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cadenas × USD 1,800 = USD 7,200/mes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1051560"/>
            <a:ext cx="3794760" cy="54406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105156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5F7E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1508760"/>
            <a:ext cx="3794760" cy="228600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48" name="Text 46"/>
          <p:cNvSpPr/>
          <p:nvPr/>
        </p:nvSpPr>
        <p:spPr>
          <a:xfrm>
            <a:off x="8321040" y="10789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E29"/>
                </a:solidFill>
              </a:rPr>
              <a:t>06  🏥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39328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0E29"/>
                </a:solidFill>
              </a:rPr>
              <a:t>SALUD &amp; REDES DE CLÍNICAS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33932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8"/>
                </a:solidFill>
              </a:rPr>
              <a:t>Gobierno BI + Analítica Operacional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39328" y="2487168"/>
            <a:ext cx="45720" cy="640080"/>
          </a:xfrm>
          <a:prstGeom prst="rect">
            <a:avLst/>
          </a:prstGeom>
          <a:solidFill>
            <a:srgbClr val="FFAAAA"/>
          </a:solidFill>
          <a:ln/>
        </p:spPr>
      </p:sp>
      <p:sp>
        <p:nvSpPr>
          <p:cNvPr id="52" name="Text 50"/>
          <p:cNvSpPr/>
          <p:nvPr/>
        </p:nvSpPr>
        <p:spPr>
          <a:xfrm>
            <a:off x="8430768" y="2487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3333"/>
                </a:solidFill>
              </a:rPr>
              <a:t>PAIN: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430768" y="2670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Las redes de clínicas (Sanna, Clínica Delgado, Auna) tienen reportes BI fragmentados por sede, sin gobierno de accesos y sin capacidad de hacer preguntas en lenguaje natural.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339328" y="3264408"/>
            <a:ext cx="45720" cy="658368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55" name="Text 53"/>
          <p:cNvSpPr/>
          <p:nvPr/>
        </p:nvSpPr>
        <p:spPr>
          <a:xfrm>
            <a:off x="8430768" y="3264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8A7"/>
                </a:solidFill>
              </a:rPr>
              <a:t>SOLUCIÓN: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30768" y="344728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Mi Visualization centraliza todos los reportes de las sedes + BI Generativa Claude que permite al gerente médico preguntar en español sobre tiempos de espera, capacidad, revenue por especialidad.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339328" y="4069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1433"/>
                </a:solidFill>
              </a:rPr>
              <a:t>🎯  Targets: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430768" y="4270248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Grupo Auna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430768" y="4443984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Clínica Delgado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430768" y="461772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Sanna Clínicas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30768" y="4791456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Anglo Americana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430768" y="496519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8"/>
                </a:solidFill>
              </a:rPr>
              <a:t>·  Oncosalud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339328" y="6080760"/>
            <a:ext cx="3566160" cy="320040"/>
          </a:xfrm>
          <a:prstGeom prst="roundRect">
            <a:avLst>
              <a:gd name="adj" fmla="val 14286"/>
            </a:avLst>
          </a:prstGeom>
          <a:solidFill>
            <a:srgbClr val="0A1E3D"/>
          </a:solidFill>
          <a:ln/>
        </p:spPr>
      </p:sp>
      <p:sp>
        <p:nvSpPr>
          <p:cNvPr id="64" name="Text 62"/>
          <p:cNvSpPr/>
          <p:nvPr/>
        </p:nvSpPr>
        <p:spPr>
          <a:xfrm>
            <a:off x="8366760" y="608076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redes × USD 1,200 = USD 3,600/mes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66" name="Shape 64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67" name="Shape 65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14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07  EXPANSIÓN LATAM — EL MOMENTO ES AHORA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</a:rPr>
              <a:t>El problema de gobierno BI es idéntico en Lima, Bogotá, Santiago y Ciudad de México. Mi Visualization no necesita cambiar — solo el tenant.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0A1E3D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🇨🇴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B7FF"/>
                </a:solidFill>
              </a:rPr>
              <a:t>Colombia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Bogotá  ·  50M hab.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246888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6517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CAMACOL (equiv. CAPECO), BVC (bolsa), ONGs internacionales, EdTech en expansión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36118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B7FF"/>
                </a:solidFill>
              </a:rPr>
              <a:t>ENTRADA: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CAMACOL como puerta de entrada — referencia de CAPECO Perú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4343400"/>
            <a:ext cx="2514600" cy="274320"/>
          </a:xfrm>
          <a:prstGeom prst="roundRect">
            <a:avLst>
              <a:gd name="adj" fmla="val 16667"/>
            </a:avLst>
          </a:prstGeom>
          <a:solidFill>
            <a:srgbClr val="26B7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USD 3,500/mes año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097280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🇨🇱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21868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E0A2"/>
                </a:solidFill>
              </a:rPr>
              <a:t>Chile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18688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Santiago  ·  19M hab.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55848" y="2560320"/>
            <a:ext cx="246888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26517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CChC (Cámara de Construcción), Banchile, Copec, Falabella corporate BI, universidades privadas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28416" y="36118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E0A2"/>
                </a:solidFill>
              </a:rPr>
              <a:t>ENTRADA: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28416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CAPECO Chile intro + LinkedIn Premium chileno SDR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28416" y="4343400"/>
            <a:ext cx="2514600" cy="274320"/>
          </a:xfrm>
          <a:prstGeom prst="roundRect">
            <a:avLst>
              <a:gd name="adj" fmla="val 16667"/>
            </a:avLst>
          </a:prstGeom>
          <a:solidFill>
            <a:srgbClr val="2EE0A2"/>
          </a:solidFill>
          <a:ln/>
        </p:spPr>
      </p:sp>
      <p:sp>
        <p:nvSpPr>
          <p:cNvPr id="25" name="Text 23"/>
          <p:cNvSpPr/>
          <p:nvPr/>
        </p:nvSpPr>
        <p:spPr>
          <a:xfrm>
            <a:off x="3328416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USD 4,000/mes año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1097280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🇲🇽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63056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EFF"/>
                </a:solidFill>
              </a:rPr>
              <a:t>México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63056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CDMX / MTY  ·  130M hab.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0216" y="2560320"/>
            <a:ext cx="246888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26517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CANADEVI (cámara construcción), BBVA México, Fibras (REITs), ITESM y universidades privadas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72784" y="36118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7EFF"/>
                </a:solidFill>
              </a:rPr>
              <a:t>ENTRADA: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72784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Partner local (reseller) + demo virtual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72784" y="4343400"/>
            <a:ext cx="2514600" cy="274320"/>
          </a:xfrm>
          <a:prstGeom prst="roundRect">
            <a:avLst>
              <a:gd name="adj" fmla="val 16667"/>
            </a:avLst>
          </a:prstGeom>
          <a:solidFill>
            <a:srgbClr val="5F7E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72784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USD 6,000/mes año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07424" y="1097280"/>
            <a:ext cx="2743200" cy="4297680"/>
          </a:xfrm>
          <a:prstGeom prst="roundRect">
            <a:avLst>
              <a:gd name="adj" fmla="val 3333"/>
            </a:avLst>
          </a:prstGeom>
          <a:solidFill>
            <a:srgbClr val="0A1E3D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07424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🇧🇷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9107424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84B"/>
                </a:solidFill>
              </a:rPr>
              <a:t>Brasil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07424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São Paulo  ·  215M hab.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244584" y="2560320"/>
            <a:ext cx="246888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9217152" y="26517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CBIC (cámara construcción), Itaú/BTG analítica, redes de educación como Kroton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217152" y="36118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4B"/>
                </a:solidFill>
              </a:rPr>
              <a:t>ENTRADA: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217152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A8"/>
                </a:solidFill>
              </a:rPr>
              <a:t>Idioma (adaptar a PT-BR es el único costo real)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217152" y="4343400"/>
            <a:ext cx="2514600" cy="274320"/>
          </a:xfrm>
          <a:prstGeom prst="roundRect">
            <a:avLst>
              <a:gd name="adj" fmla="val 16667"/>
            </a:avLst>
          </a:prstGeom>
          <a:solidFill>
            <a:srgbClr val="C8A84B"/>
          </a:solidFill>
          <a:ln/>
        </p:spPr>
      </p:sp>
      <p:sp>
        <p:nvSpPr>
          <p:cNvPr id="45" name="Text 43"/>
          <p:cNvSpPr/>
          <p:nvPr/>
        </p:nvSpPr>
        <p:spPr>
          <a:xfrm>
            <a:off x="9217152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E29"/>
                </a:solidFill>
              </a:rPr>
              <a:t>USD 8,000/mes año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5532120"/>
            <a:ext cx="11612880" cy="1005840"/>
          </a:xfrm>
          <a:prstGeom prst="roundRect">
            <a:avLst>
              <a:gd name="adj" fmla="val 7273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577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0A2"/>
                </a:solidFill>
              </a:rPr>
              <a:t>🤖  SDR DIGITAL CON CLAUDE — ESCALAR SIN CONTRATAR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8"/>
                </a:solidFill>
              </a:rPr>
              <a:t>Automatiza la prospección LATAM: Claude + Apollo genera y personaliza emails en español/portugués, califica respuestas, agenda demos. Costo: USD 49 Apollo + USD 8 Claude API = USD 57/mes para 500 prospectos en 4 países.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61120" y="5596128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2EE0A2"/>
          </a:solidFill>
          <a:ln/>
        </p:spPr>
      </p:sp>
      <p:sp>
        <p:nvSpPr>
          <p:cNvPr id="50" name="Text 48"/>
          <p:cNvSpPr/>
          <p:nvPr/>
        </p:nvSpPr>
        <p:spPr>
          <a:xfrm>
            <a:off x="8961120" y="5596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E29"/>
                </a:solidFill>
              </a:rPr>
              <a:t>LATAM TOTAL ARR POTENCIAL: USD 260K+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52" name="Shape 50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53" name="Shape 51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E29"/>
                </a:solidFill>
              </a:rPr>
              <a:t>4 MODELOS DE INGRESO QUE AMPLIFICAN EL MRR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El mismo producto, 4 formas de cobrar según el tipo de cliente — maxima conversión en cada segmento.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20040" cy="2514600"/>
          </a:xfrm>
          <a:prstGeom prst="roundRect">
            <a:avLst>
              <a:gd name="adj" fmla="val 17143"/>
            </a:avLst>
          </a:prstGeom>
          <a:solidFill>
            <a:srgbClr val="0058A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097280"/>
            <a:ext cx="137160" cy="251460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8A7"/>
                </a:solidFill>
              </a:rPr>
              <a:t>🆓  MODELO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433"/>
                </a:solidFill>
              </a:rPr>
              <a:t>Freemium → Premium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8470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Reportes Power BI públicos GRATIS generan tráfico y leads calificados. Usuarios frecuentes hacen upgrade a suscripción con acceso a más variables, historial y BI Generativa.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FREE: Reportes públicos precios m² y disponibilidad — sin login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261518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STARTER USD 99/mes: 5 usuarios, 3 reportes, BI Generativa básica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PROFESSIONAL USD 299/mes: 20 usuarios, acceso completo PME+Nexo, Claude Sonnet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3054096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ENTERPRISE USD 799+/mes: usuarios ilimitados, API acceso, branding propio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77240" y="3328416"/>
            <a:ext cx="5120640" cy="201168"/>
          </a:xfrm>
          <a:prstGeom prst="roundRect">
            <a:avLst>
              <a:gd name="adj" fmla="val 18182"/>
            </a:avLst>
          </a:prstGeom>
          <a:solidFill>
            <a:srgbClr val="0A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2841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💡  Tráfico → 3% conversión → USD 99 ARPU inicial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63640" y="109728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097280"/>
            <a:ext cx="320040" cy="2514600"/>
          </a:xfrm>
          <a:prstGeom prst="roundRect">
            <a:avLst>
              <a:gd name="adj" fmla="val 17143"/>
            </a:avLst>
          </a:prstGeom>
          <a:solidFill>
            <a:srgbClr val="2EE0A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1097280"/>
            <a:ext cx="137160" cy="2514600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🤝  MODELO 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084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433"/>
                </a:solidFill>
              </a:rPr>
              <a:t>Revenue Share con Gremios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8470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El gremio (CAPECO, ASEI, CAMACOL) vende suscripciones a sus afiliados bajo su marca. Mi Visualization cobra 30–40% del ingreso del gremio sin vender directamente.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20840" y="239572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Gremio vende acceso a 80 afiliados × USD 150/mes = USD 12,000 MRR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20840" y="261518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Mi Visualization recibe 35% = USD 4,200/mes por gremio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20840" y="2834640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El gremio mantiene la relación con sus afiliados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20840" y="3054096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Mi Visualization escala sin fuerza de ventas propia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75120" y="3328416"/>
            <a:ext cx="5120640" cy="201168"/>
          </a:xfrm>
          <a:prstGeom prst="roundRect">
            <a:avLst>
              <a:gd name="adj" fmla="val 18182"/>
            </a:avLst>
          </a:prstGeom>
          <a:solidFill>
            <a:srgbClr val="0A1E3D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32841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💡  3 gremios activos = USD 12,600/mes por revenue share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94760"/>
            <a:ext cx="320040" cy="2514600"/>
          </a:xfrm>
          <a:prstGeom prst="roundRect">
            <a:avLst>
              <a:gd name="adj" fmla="val 17143"/>
            </a:avLst>
          </a:prstGeom>
          <a:solidFill>
            <a:srgbClr val="5F7E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794760"/>
            <a:ext cx="137160" cy="2514600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7EFF"/>
                </a:solidFill>
              </a:rPr>
              <a:t>⚡  MODELO 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4178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433"/>
                </a:solidFill>
              </a:rPr>
              <a:t>API as a Service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45445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Empresas que no quieren la interfaz gráfica pero necesitan los datos: proptech, bancos, apps móviles. Acceden via API REST. Precio por consulta o por volumen.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2960" y="509320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Pay per use: USD 0.05–0.15 / consulta de valorización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" y="531266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Bundle mensual: USD 500/mes por 10,000 consultas API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" y="5532120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Enterprise: USD 2,000/mes acceso full API con SLA 99.9%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" y="5751576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White-label embed: USD 3,000/mes + setup USD 5,000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7240" y="6025896"/>
            <a:ext cx="5120640" cy="201168"/>
          </a:xfrm>
          <a:prstGeom prst="roundRect">
            <a:avLst>
              <a:gd name="adj" fmla="val 18182"/>
            </a:avLst>
          </a:prstGeom>
          <a:solidFill>
            <a:srgbClr val="0A1E3D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602589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💡  5 API clients × USD 800 ARPU = USD 4,000/mes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63640" y="3794760"/>
            <a:ext cx="56692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3794760"/>
            <a:ext cx="320040" cy="2514600"/>
          </a:xfrm>
          <a:prstGeom prst="roundRect">
            <a:avLst>
              <a:gd name="adj" fmla="val 17143"/>
            </a:avLst>
          </a:prstGeom>
          <a:solidFill>
            <a:srgbClr val="C8A84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6520" y="3794760"/>
            <a:ext cx="137160" cy="25146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4B"/>
                </a:solidFill>
              </a:rPr>
              <a:t>🛍️  MODELO 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20840" y="4178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1433"/>
                </a:solidFill>
              </a:rPr>
              <a:t>Marketplace de Reportes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20840" y="45445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Consultoras, analistas independientes o el mismo equipo MI publican reportes especializados en un marketplace. Comprador paga USD 50–500 por reporte. Mi Visualization cobra 20% de comisión.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20840" y="509320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Reporte mensual sector construcción: USD 299 — acceso 30 días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20840" y="531266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Reporte especial zona (Miraflores, San Isidro): USD 199 on-demand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20840" y="5532120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Pack anual de reportes PME trimestrales: USD 799/año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0840" y="5751576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1433"/>
                </a:solidFill>
              </a:rPr>
              <a:t>·  Reporte personalizado por zona/sector: USD 500–1,500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6025896"/>
            <a:ext cx="5120640" cy="201168"/>
          </a:xfrm>
          <a:prstGeom prst="roundRect">
            <a:avLst>
              <a:gd name="adj" fmla="val 18182"/>
            </a:avLst>
          </a:prstGeom>
          <a:solidFill>
            <a:srgbClr val="0A1E3D"/>
          </a:solidFill>
          <a:ln/>
        </p:spPr>
      </p:sp>
      <p:sp>
        <p:nvSpPr>
          <p:cNvPr id="52" name="Text 50"/>
          <p:cNvSpPr/>
          <p:nvPr/>
        </p:nvSpPr>
        <p:spPr>
          <a:xfrm>
            <a:off x="6720840" y="602589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💡  100 ventas/mes × USD 200 ARPU × 20% = USD 4,000/mes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54" name="Shape 52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55" name="Shape 53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E29"/>
                </a:solidFill>
              </a:rPr>
              <a:t>MATRIZ DE PRIORIZACIÓN — IMPACTO vs ESFUERZO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Prioriza las apuestas según impacto en MRR y velocidad de implementación.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8620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1097280"/>
            <a:ext cx="3886200" cy="2651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749040"/>
            <a:ext cx="3886200" cy="2651760"/>
          </a:xfrm>
          <a:prstGeom prst="rect">
            <a:avLst/>
          </a:prstGeom>
          <a:solidFill>
            <a:srgbClr val="FFF9C4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3749040"/>
            <a:ext cx="3886200" cy="2651760"/>
          </a:xfrm>
          <a:prstGeom prst="rect">
            <a:avLst/>
          </a:prstGeom>
          <a:solidFill>
            <a:srgbClr val="FFEBEE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7D32"/>
                </a:solidFill>
              </a:rPr>
              <a:t>🚀 HACER PRIMERO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7D32"/>
                </a:solidFill>
              </a:rPr>
              <a:t>Alto impacto · Bajo esfuerzo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58A7"/>
                </a:solidFill>
              </a:rPr>
              <a:t>📈 PLANIFICAR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58A7"/>
                </a:solidFill>
              </a:rPr>
              <a:t>Alto impacto · Alto esfuerzo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7F17"/>
                </a:solidFill>
              </a:rPr>
              <a:t>⚡ QUICK WINS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7F17"/>
                </a:solidFill>
              </a:rPr>
              <a:t>Bajo impacto · Bajo esfuerzo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62828"/>
                </a:solidFill>
              </a:rPr>
              <a:t>❓ RE-EVALUAR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62828"/>
                </a:solidFill>
              </a:rPr>
              <a:t>Bajo impacto · Alto esfuerzo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1560" y="1691640"/>
            <a:ext cx="274320" cy="274320"/>
          </a:xfrm>
          <a:prstGeom prst="ellipse">
            <a:avLst/>
          </a:prstGeom>
          <a:solidFill>
            <a:srgbClr val="0058A7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BI Generativa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Clientes actuales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600200" y="2331720"/>
            <a:ext cx="274320" cy="274320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16" name="Text 14"/>
          <p:cNvSpPr/>
          <p:nvPr/>
        </p:nvSpPr>
        <p:spPr>
          <a:xfrm>
            <a:off x="1901952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Upsell PME→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BI Generativa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06040" y="1600200"/>
            <a:ext cx="274320" cy="274320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18" name="Text 16"/>
          <p:cNvSpPr/>
          <p:nvPr/>
        </p:nvSpPr>
        <p:spPr>
          <a:xfrm>
            <a:off x="2907792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ASEI Peru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(gremio inmobiliario)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20440" y="2606040"/>
            <a:ext cx="274320" cy="274320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Revenue Share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CAPECO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1783080"/>
            <a:ext cx="274320" cy="274320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56632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Banco GNB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CreditBI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577840" y="2331720"/>
            <a:ext cx="274320" cy="27432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24" name="Text 22"/>
          <p:cNvSpPr/>
          <p:nvPr/>
        </p:nvSpPr>
        <p:spPr>
          <a:xfrm>
            <a:off x="5879592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Proptech API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(Urbania)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492240" y="1691640"/>
            <a:ext cx="274320" cy="274320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93992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CAPECO Chile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Expansión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68680" y="4343400"/>
            <a:ext cx="274320" cy="27432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432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Marketplace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Reportes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965960" y="4983480"/>
            <a:ext cx="274320" cy="274320"/>
          </a:xfrm>
          <a:prstGeom prst="ellipse">
            <a:avLst/>
          </a:prstGeom>
          <a:solidFill>
            <a:srgbClr val="8896A8"/>
          </a:solidFill>
          <a:ln/>
        </p:spPr>
      </p:sp>
      <p:sp>
        <p:nvSpPr>
          <p:cNvPr id="30" name="Text 28"/>
          <p:cNvSpPr/>
          <p:nvPr/>
        </p:nvSpPr>
        <p:spPr>
          <a:xfrm>
            <a:off x="2267712" y="4937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Gobierno /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Municipalidades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46320" y="4343400"/>
            <a:ext cx="274320" cy="274320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32" name="Text 30"/>
          <p:cNvSpPr/>
          <p:nvPr/>
        </p:nvSpPr>
        <p:spPr>
          <a:xfrm>
            <a:off x="5148072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CAMACOL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Colombia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17920" y="4800600"/>
            <a:ext cx="274320" cy="274320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Brasil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41433"/>
                </a:solidFill>
              </a:rPr>
              <a:t>expansión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</a:rPr>
              <a:t>←  BAJO ESFUERZO                 ALTO ESFUERZO  →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" y="128016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↑  ALTO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IMPACTO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" y="402336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↓  BAJO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IMPACTO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503920" y="1097280"/>
            <a:ext cx="3383280" cy="5303520"/>
          </a:xfrm>
          <a:prstGeom prst="roundRect">
            <a:avLst>
              <a:gd name="adj" fmla="val 2703"/>
            </a:avLst>
          </a:prstGeom>
          <a:solidFill>
            <a:srgbClr val="0A1E3D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 90 DÍAS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95360" y="1527048"/>
            <a:ext cx="3200400" cy="27432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41" name="Shape 39"/>
          <p:cNvSpPr/>
          <p:nvPr/>
        </p:nvSpPr>
        <p:spPr>
          <a:xfrm>
            <a:off x="8595360" y="1645920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42" name="Shape 40"/>
          <p:cNvSpPr/>
          <p:nvPr/>
        </p:nvSpPr>
        <p:spPr>
          <a:xfrm>
            <a:off x="8595360" y="1645920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E0A2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0" y="1645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Sem 1–2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64108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Pitch BI Generativa a 5 clientes actuales (upsell directo)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595360" y="2212848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46" name="Shape 44"/>
          <p:cNvSpPr/>
          <p:nvPr/>
        </p:nvSpPr>
        <p:spPr>
          <a:xfrm>
            <a:off x="8595360" y="221284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5F7EFF"/>
          </a:solidFill>
          <a:ln/>
        </p:spPr>
      </p:sp>
      <p:sp>
        <p:nvSpPr>
          <p:cNvPr id="47" name="Text 45"/>
          <p:cNvSpPr/>
          <p:nvPr/>
        </p:nvSpPr>
        <p:spPr>
          <a:xfrm>
            <a:off x="8595360" y="2212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Sem 2–3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641080" y="2459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Propuesta a Banco GNB módulo CreditBI con datos PME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595360" y="2779776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50" name="Shape 48"/>
          <p:cNvSpPr/>
          <p:nvPr/>
        </p:nvSpPr>
        <p:spPr>
          <a:xfrm>
            <a:off x="8595360" y="2779776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6B7FF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277977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Sem 3–4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641080" y="3026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Reunión ASEI — presentar modelo PME para inmobiliarias afiliadas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595360" y="3346704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54" name="Shape 52"/>
          <p:cNvSpPr/>
          <p:nvPr/>
        </p:nvSpPr>
        <p:spPr>
          <a:xfrm>
            <a:off x="8595360" y="3346704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C8A84B"/>
          </a:solidFill>
          <a:ln/>
        </p:spPr>
      </p:sp>
      <p:sp>
        <p:nvSpPr>
          <p:cNvPr id="55" name="Text 53"/>
          <p:cNvSpPr/>
          <p:nvPr/>
        </p:nvSpPr>
        <p:spPr>
          <a:xfrm>
            <a:off x="8595360" y="33467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Mes 2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641080" y="3593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Demo a Promart expansión geográfica + decisión tiendas con BI generativa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595360" y="3913632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58" name="Shape 56"/>
          <p:cNvSpPr/>
          <p:nvPr/>
        </p:nvSpPr>
        <p:spPr>
          <a:xfrm>
            <a:off x="8595360" y="3913632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0058A7"/>
          </a:solidFill>
          <a:ln/>
        </p:spPr>
      </p:sp>
      <p:sp>
        <p:nvSpPr>
          <p:cNvPr id="59" name="Text 57"/>
          <p:cNvSpPr/>
          <p:nvPr/>
        </p:nvSpPr>
        <p:spPr>
          <a:xfrm>
            <a:off x="8595360" y="39136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Mes 2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64108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Contacto Urbania/Nexo para API valorización embebida en portal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595360" y="4480560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62" name="Shape 60"/>
          <p:cNvSpPr/>
          <p:nvPr/>
        </p:nvSpPr>
        <p:spPr>
          <a:xfrm>
            <a:off x="8595360" y="4480560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6B7FF"/>
          </a:solidFill>
          <a:ln/>
        </p:spPr>
      </p:sp>
      <p:sp>
        <p:nvSpPr>
          <p:cNvPr id="63" name="Text 61"/>
          <p:cNvSpPr/>
          <p:nvPr/>
        </p:nvSpPr>
        <p:spPr>
          <a:xfrm>
            <a:off x="8595360" y="4480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Mes 3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64108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Primera propuesta CAPECO Chile vía intro de CAPECO Peru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595360" y="5047488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66" name="Shape 64"/>
          <p:cNvSpPr/>
          <p:nvPr/>
        </p:nvSpPr>
        <p:spPr>
          <a:xfrm>
            <a:off x="8595360" y="504748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C8A84B"/>
          </a:solidFill>
          <a:ln/>
        </p:spPr>
      </p:sp>
      <p:sp>
        <p:nvSpPr>
          <p:cNvPr id="67" name="Text 65"/>
          <p:cNvSpPr/>
          <p:nvPr/>
        </p:nvSpPr>
        <p:spPr>
          <a:xfrm>
            <a:off x="8595360" y="5047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Mes 3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641080" y="52943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Lanzar Marketplace de reportes — 3 productos iniciales PME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595360" y="5614416"/>
            <a:ext cx="3200400" cy="475488"/>
          </a:xfrm>
          <a:prstGeom prst="roundRect">
            <a:avLst>
              <a:gd name="adj" fmla="val 9615"/>
            </a:avLst>
          </a:prstGeom>
          <a:solidFill>
            <a:srgbClr val="0D1B35"/>
          </a:solidFill>
          <a:ln/>
        </p:spPr>
      </p:sp>
      <p:sp>
        <p:nvSpPr>
          <p:cNvPr id="70" name="Shape 68"/>
          <p:cNvSpPr/>
          <p:nvPr/>
        </p:nvSpPr>
        <p:spPr>
          <a:xfrm>
            <a:off x="8595360" y="5614416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EE0A2"/>
          </a:solidFill>
          <a:ln/>
        </p:spPr>
      </p:sp>
      <p:sp>
        <p:nvSpPr>
          <p:cNvPr id="71" name="Text 69"/>
          <p:cNvSpPr/>
          <p:nvPr/>
        </p:nvSpPr>
        <p:spPr>
          <a:xfrm>
            <a:off x="8595360" y="561441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E29"/>
                </a:solidFill>
              </a:rPr>
              <a:t>Mes 3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641080" y="5861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896A8"/>
                </a:solidFill>
              </a:rPr>
              <a:t>Activar modelo revenue share con CAPECO en sus 15 afiliadas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74" name="Shape 72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75" name="Shape 73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PATH TO USD 50K MRR — PROYECCIÓN 18 MESES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Construido sobre la base actual + activación progresiva de cada oportunidad identificada.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241280" cy="36576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FUENTE DE INGRESO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Mes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Mes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Mes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3544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B7FF"/>
                </a:solidFill>
              </a:rPr>
              <a:t>Mes 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10241280" cy="411480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508760"/>
            <a:ext cx="54864" cy="4114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Base actual (clientes existentes)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$3,500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$5,200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$7,000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23544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$9,000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965960"/>
            <a:ext cx="10241280" cy="41148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965960"/>
            <a:ext cx="54864" cy="411480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BI Generativa (upsell clientes actuales)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$2,400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$4,800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3544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$6,500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10241280" cy="411480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423160"/>
            <a:ext cx="54864" cy="4114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Gremios &amp; Asociaciones (Perú + LATAM)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$1,500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$5,000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3544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$9,500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880360"/>
            <a:ext cx="10241280" cy="41148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2880360"/>
            <a:ext cx="54864" cy="411480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2880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Bancos &amp; Fondos (DaaS + CreditBI)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$1,000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$3,500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3544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$6,000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337560"/>
            <a:ext cx="10241280" cy="411480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3337560"/>
            <a:ext cx="54864" cy="41148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Proptech &amp; Portales (API valorización)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$500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$2,000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3544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$4,500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794760"/>
            <a:ext cx="10241280" cy="41148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47" name="Shape 45"/>
          <p:cNvSpPr/>
          <p:nvPr/>
        </p:nvSpPr>
        <p:spPr>
          <a:xfrm>
            <a:off x="365760" y="3794760"/>
            <a:ext cx="54864" cy="41148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794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Retail &amp; Salud (nuevos sectores)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0936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$800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$3,200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23544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$5,500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251960"/>
            <a:ext cx="10241280" cy="411480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4251960"/>
            <a:ext cx="54864" cy="41148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Marketplace de Reportes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4632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0936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$300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40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$1,500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23544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$4,000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709160"/>
            <a:ext cx="10241280" cy="411480"/>
          </a:xfrm>
          <a:prstGeom prst="rect">
            <a:avLst/>
          </a:prstGeom>
          <a:solidFill>
            <a:srgbClr val="0A1E3D"/>
          </a:solidFill>
          <a:ln/>
        </p:spPr>
      </p:sp>
      <p:sp>
        <p:nvSpPr>
          <p:cNvPr id="61" name="Shape 59"/>
          <p:cNvSpPr/>
          <p:nvPr/>
        </p:nvSpPr>
        <p:spPr>
          <a:xfrm>
            <a:off x="365760" y="4709160"/>
            <a:ext cx="54864" cy="41148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62" name="Text 60"/>
          <p:cNvSpPr/>
          <p:nvPr/>
        </p:nvSpPr>
        <p:spPr>
          <a:xfrm>
            <a:off x="502920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Expansión LATAM directa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4632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0936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—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77240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$2,000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2354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0A2"/>
                </a:solidFill>
              </a:rPr>
              <a:t>$6,000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5166360"/>
            <a:ext cx="10241280" cy="45720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68" name="Text 66"/>
          <p:cNvSpPr/>
          <p:nvPr/>
        </p:nvSpPr>
        <p:spPr>
          <a:xfrm>
            <a:off x="502920" y="5166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MRR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4632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A2"/>
                </a:solidFill>
              </a:rPr>
              <a:t>$3,500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30936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A2"/>
                </a:solidFill>
              </a:rPr>
              <a:t>$11,700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77240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A2"/>
                </a:solidFill>
              </a:rPr>
              <a:t>$29,000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23544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0A2"/>
                </a:solidFill>
              </a:rPr>
              <a:t>$51,000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0744200" y="10972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A1E3D"/>
          </a:solidFill>
          <a:ln w="12700">
            <a:solidFill>
              <a:srgbClr val="0058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4420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8A7"/>
                </a:solidFill>
              </a:rPr>
              <a:t>HOY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0744200" y="33832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744200" y="3383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EE0A2"/>
                </a:solidFill>
              </a:rPr>
              <a:t>3.3x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EE0A2"/>
                </a:solidFill>
              </a:rPr>
              <a:t>crecimiento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576072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5806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0A2"/>
                </a:solidFill>
              </a:rPr>
              <a:t>🎯  EL SUPUESTO CLAVE: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651760" y="580644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No se requiere cambiar el producto. Solo agregar la capa BI Generativa Claude (ya especificada), activar el modelo de revenue share con CAPECO/ASEI, y ejecutar el outbound LATAM con Apollo + SDR. El equipo actual puede cerrar USD 29K MRR en 12 meses con las herramientas que ya tiene.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81" name="Shape 79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82" name="Shape 80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E2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PRÓXIMAS 4 SEMANAS — ACCIÓN CONCRETA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</a:rPr>
              <a:t>Como Account Manager B2B: cada semana tiene dueño, acción específica y métrica de éxito.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0A1E3D"/>
          </a:solidFill>
          <a:ln w="12700">
            <a:solidFill>
              <a:srgbClr val="2EE0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2EE0A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5486400" cy="182880"/>
          </a:xfrm>
          <a:prstGeom prst="rect">
            <a:avLst/>
          </a:prstGeom>
          <a:solidFill>
            <a:srgbClr val="2EE0A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E29"/>
                </a:solidFill>
              </a:rPr>
              <a:t>SEMANA 1  ·  Activar lo que ya existe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01952"/>
            <a:ext cx="109728" cy="109728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562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WhatsApp al contacto CAPECO: proponer reunión para presentar BI Generativa a los 15 afiliados (revenue share model)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313432"/>
            <a:ext cx="109728" cy="109728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2677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Email a Banco GNB: upgrade de plan actual a CreditBI con módulo PME+Nexo — ROI calculado en la propuesta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724912"/>
            <a:ext cx="109728" cy="109728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791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Llamada a ASEI: presentar modelo PME Inmobiliario para sus 500 afiliadas — misma plataforma, nuevo tenant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3136392"/>
            <a:ext cx="109728" cy="109728"/>
          </a:xfrm>
          <a:prstGeom prst="ellipse">
            <a:avLst/>
          </a:prstGeom>
          <a:solidFill>
            <a:srgbClr val="2EE0A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906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Configurar Claude API en MiViz: demo funcional de BI Generativa lista para usar en demos esta semana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0A1E3D"/>
          </a:solidFill>
          <a:ln w="12700">
            <a:solidFill>
              <a:srgbClr val="26B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18872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26B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554480"/>
            <a:ext cx="548640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E29"/>
                </a:solidFill>
              </a:rPr>
              <a:t>SEMANA 2  ·  Abrir nuevos segmentos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901952"/>
            <a:ext cx="109728" cy="109728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8562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Demo a Promart Homecenter: expansión geográfica + BI generativa sobre datos PME de sus zonas potenciales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0" y="2313432"/>
            <a:ext cx="109728" cy="109728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2677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Prospección Apollo: 80 emails a portales inmobiliarios (Urbania, A Donde Vivir) sobre API de valorización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2724912"/>
            <a:ext cx="109728" cy="109728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6791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Contacto Sanna Clínicas o Auna: gobierno BI multi-sede + BI generativa para gerentes médicos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0" y="3136392"/>
            <a:ext cx="109728" cy="109728"/>
          </a:xfrm>
          <a:prstGeom prst="ellipse">
            <a:avLst/>
          </a:prstGeom>
          <a:solidFill>
            <a:srgbClr val="26B7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0906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Preparar caso de éxito BI Generativa con datos de un cliente actual — usar para credibilidad en demos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79476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0A1E3D"/>
          </a:solidFill>
          <a:ln w="12700">
            <a:solidFill>
              <a:srgbClr val="5F7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79476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5F7E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60520"/>
            <a:ext cx="5486400" cy="182880"/>
          </a:xfrm>
          <a:prstGeom prst="rect">
            <a:avLst/>
          </a:prstGeom>
          <a:solidFill>
            <a:srgbClr val="5F7E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886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E29"/>
                </a:solidFill>
              </a:rPr>
              <a:t>SEMANA 3  ·  Pipeline LATAM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507992"/>
            <a:ext cx="109728" cy="109728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4622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LinkedIn + email a contacto CAMACOL Colombia usando referencia de CAPECO Perú como credencial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0080" y="4919472"/>
            <a:ext cx="109728" cy="109728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8737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Contactar CChC Chile para propuesta CAPECO Chile: mismo modelo PME, datos del mercado chileno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" y="5330952"/>
            <a:ext cx="109728" cy="109728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2852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Configurar secuencia Apollo en español para 40 prospectos Colombia/Chile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" y="5742432"/>
            <a:ext cx="109728" cy="109728"/>
          </a:xfrm>
          <a:prstGeom prst="ellipse">
            <a:avLst/>
          </a:prstGeom>
          <a:solidFill>
            <a:srgbClr val="5F7EFF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6967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Definir pricing internacional: mismos planes en USD, contratos anuales con descuento 15%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3794760"/>
            <a:ext cx="5486400" cy="2423160"/>
          </a:xfrm>
          <a:prstGeom prst="roundRect">
            <a:avLst>
              <a:gd name="adj" fmla="val 3774"/>
            </a:avLst>
          </a:prstGeom>
          <a:solidFill>
            <a:srgbClr val="0A1E3D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79476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C8A84B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4160520"/>
            <a:ext cx="5486400" cy="18288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886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E29"/>
                </a:solidFill>
              </a:rPr>
              <a:t>SEMANA 4  ·  Cerrar y medir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0" y="4507992"/>
            <a:ext cx="109728" cy="109728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44622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Pipeline Review: 3 propuestas enviadas mínimo (GNB + ASEI + un cliente BI Generativa upsell)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00800" y="4919472"/>
            <a:ext cx="109728" cy="109728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8737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Lanzar 2 reportes en Marketplace PME: precios m² Lima este trimestre + comparativo PME vs Nexo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00800" y="5330952"/>
            <a:ext cx="109728" cy="109728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0" y="52852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Monthly Review: MRR real vs proyectado, ajustar segmento prioritario para Mes 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0" y="5742432"/>
            <a:ext cx="109728" cy="109728"/>
          </a:xfrm>
          <a:prstGeom prst="ellipse">
            <a:avLst/>
          </a:prstGeom>
          <a:solidFill>
            <a:srgbClr val="C8A84B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56967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896A8"/>
                </a:solidFill>
              </a:rPr>
              <a:t>Contratar SDR part-time (20 hrs/semana) para mantener volumen de prospección en Mes 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6446520"/>
            <a:ext cx="12161520" cy="347472"/>
          </a:xfrm>
          <a:prstGeom prst="rect">
            <a:avLst/>
          </a:prstGeom>
          <a:solidFill>
            <a:srgbClr val="041433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4648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</a:rPr>
              <a:t>Mi Visualization × Millennial  ·  info@mivisualization.com  ·  mivisualization.com  ·  +51 975 113 510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675120"/>
            <a:ext cx="5029200" cy="182880"/>
          </a:xfrm>
          <a:prstGeom prst="rect">
            <a:avLst/>
          </a:prstGeom>
          <a:solidFill>
            <a:srgbClr val="0058A7"/>
          </a:solidFill>
          <a:ln/>
        </p:spPr>
      </p:sp>
      <p:sp>
        <p:nvSpPr>
          <p:cNvPr id="58" name="Shape 56"/>
          <p:cNvSpPr/>
          <p:nvPr/>
        </p:nvSpPr>
        <p:spPr>
          <a:xfrm>
            <a:off x="5029200" y="6675120"/>
            <a:ext cx="4023360" cy="182880"/>
          </a:xfrm>
          <a:prstGeom prst="rect">
            <a:avLst/>
          </a:prstGeom>
          <a:solidFill>
            <a:srgbClr val="26B7FF"/>
          </a:solidFill>
          <a:ln/>
        </p:spPr>
      </p:sp>
      <p:sp>
        <p:nvSpPr>
          <p:cNvPr id="59" name="Shape 57"/>
          <p:cNvSpPr/>
          <p:nvPr/>
        </p:nvSpPr>
        <p:spPr>
          <a:xfrm>
            <a:off x="9052560" y="6675120"/>
            <a:ext cx="3108960" cy="182880"/>
          </a:xfrm>
          <a:prstGeom prst="rect">
            <a:avLst/>
          </a:prstGeom>
          <a:solidFill>
            <a:srgbClr val="2EE0A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2026-03-06T06:13:49Z</dcterms:created>
  <dcterms:modified xsi:type="dcterms:W3CDTF">2026-03-06T06:13:49Z</dcterms:modified>
</cp:coreProperties>
</file>