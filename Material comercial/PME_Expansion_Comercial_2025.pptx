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05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E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INTELIGENCIA INMOBILIARIA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6916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Comercial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Oportunidades de Producto · Modelos de Pricing · Estrategia de Auspiciadores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961120" y="777240"/>
            <a:ext cx="2834640" cy="658368"/>
          </a:xfrm>
          <a:prstGeom prst="rect">
            <a:avLst/>
          </a:prstGeom>
          <a:solidFill>
            <a:srgbClr val="0A1E3D"/>
          </a:solidFill>
          <a:ln w="12700">
            <a:solidFill>
              <a:srgbClr val="2EE0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0" y="777240"/>
            <a:ext cx="45720" cy="658368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98280" y="9326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Alertas de Mercado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961120" y="1664208"/>
            <a:ext cx="2834640" cy="658368"/>
          </a:xfrm>
          <a:prstGeom prst="rect">
            <a:avLst/>
          </a:prstGeom>
          <a:solidFill>
            <a:srgbClr val="0A1E3D"/>
          </a:solidFill>
          <a:ln w="12700">
            <a:solidFill>
              <a:srgbClr val="26B7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961120" y="1664208"/>
            <a:ext cx="45720" cy="658368"/>
          </a:xfrm>
          <a:prstGeom prst="rect">
            <a:avLst/>
          </a:prstGeom>
          <a:solidFill>
            <a:srgbClr val="26B7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98280" y="181965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API de Datos PME+Nexo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961120" y="2551176"/>
            <a:ext cx="2834640" cy="658368"/>
          </a:xfrm>
          <a:prstGeom prst="rect">
            <a:avLst/>
          </a:prstGeom>
          <a:solidFill>
            <a:srgbClr val="0A1E3D"/>
          </a:solidFill>
          <a:ln w="12700">
            <a:solidFill>
              <a:srgbClr val="5F7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961120" y="2551176"/>
            <a:ext cx="45720" cy="658368"/>
          </a:xfrm>
          <a:prstGeom prst="rect">
            <a:avLst/>
          </a:prstGeom>
          <a:solidFill>
            <a:srgbClr val="5F7EFF"/>
          </a:solidFill>
          <a:ln w="12700">
            <a:solidFill>
              <a:srgbClr val="5F7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27066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Índice PME Oficial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61120" y="3438144"/>
            <a:ext cx="2834640" cy="658368"/>
          </a:xfrm>
          <a:prstGeom prst="rect">
            <a:avLst/>
          </a:prstGeom>
          <a:solidFill>
            <a:srgbClr val="0A1E3D"/>
          </a:solidFill>
          <a:ln w="12700">
            <a:solidFill>
              <a:srgbClr val="C8A8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0" y="3438144"/>
            <a:ext cx="45720" cy="65836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98280" y="35935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Due Diligence Reports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61120" y="4325112"/>
            <a:ext cx="2834640" cy="658368"/>
          </a:xfrm>
          <a:prstGeom prst="rect">
            <a:avLst/>
          </a:prstGeom>
          <a:solidFill>
            <a:srgbClr val="0A1E3D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61120" y="4325112"/>
            <a:ext cx="45720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4480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PME para Agentes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61120" y="5212080"/>
            <a:ext cx="2834640" cy="658368"/>
          </a:xfrm>
          <a:prstGeom prst="rect">
            <a:avLst/>
          </a:prstGeom>
          <a:solidFill>
            <a:srgbClr val="0A1E3D"/>
          </a:solidFill>
          <a:ln w="12700">
            <a:solidFill>
              <a:srgbClr val="FF4E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61120" y="5212080"/>
            <a:ext cx="45720" cy="658368"/>
          </a:xfrm>
          <a:prstGeom prst="rect">
            <a:avLst/>
          </a:prstGeom>
          <a:solidFill>
            <a:srgbClr val="FF4E8A"/>
          </a:solidFill>
          <a:ln w="12700">
            <a:solidFill>
              <a:srgbClr val="FF4E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8280" y="53675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PME Enterprise (White-label)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Millennial Intelligence Solutions  ×  CAPECO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656832"/>
            <a:ext cx="4050792" cy="201168"/>
          </a:xfrm>
          <a:prstGeom prst="rect">
            <a:avLst/>
          </a:prstGeom>
          <a:solidFill>
            <a:srgbClr val="0058A7"/>
          </a:solidFill>
          <a:ln w="12700">
            <a:solidFill>
              <a:srgbClr val="0058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50792" y="6656832"/>
            <a:ext cx="4059936" cy="201168"/>
          </a:xfrm>
          <a:prstGeom prst="rect">
            <a:avLst/>
          </a:prstGeom>
          <a:solidFill>
            <a:srgbClr val="26B7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10728" y="6656832"/>
            <a:ext cx="4050792" cy="201168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247120" y="6400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00E29"/>
          </a:solidFill>
          <a:ln w="12700">
            <a:solidFill>
              <a:srgbClr val="000E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E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que PME puede capturar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651760" cy="64008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618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+5,000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29768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inmobiliarios en Lima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suscriptores individuales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2651760" cy="64008"/>
          </a:xfrm>
          <a:prstGeom prst="rect">
            <a:avLst/>
          </a:prstGeom>
          <a:solidFill>
            <a:srgbClr val="26B7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2618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2M+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10128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de ingresos anuales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combinando los 6 productos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1430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143000"/>
            <a:ext cx="2651760" cy="64008"/>
          </a:xfrm>
          <a:prstGeom prst="rect">
            <a:avLst/>
          </a:prstGeom>
          <a:solidFill>
            <a:srgbClr val="5F7EFF"/>
          </a:solidFill>
          <a:ln w="12700">
            <a:solidFill>
              <a:srgbClr val="5F7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0488" y="12618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sem.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90488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al mercado del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producto (Alertas)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61120" y="11430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61120" y="1143000"/>
            <a:ext cx="2651760" cy="6400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70848" y="12618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070848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Multiplicador de valor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auspiciadores actuales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2788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5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 DE EXPANSIÓN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200400"/>
            <a:ext cx="54864" cy="457200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00400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21868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tiene activos únicos: data censal 100% Lima + sello CAPECO + historial desde 2022. Ningún competidor puede replicar eso.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3904488"/>
            <a:ext cx="54864" cy="457200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904488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392277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6 productos propuestos explotan ese activo en 6 segmentos distintos sin canibalizar entre sí — cada uno tiene un buyer diferente.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4608576"/>
            <a:ext cx="54864" cy="457200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608576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462686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freemium (reportes públicos gratuitos) ya está generando tráfico. El trabajo ahora es convertir ese tráfico en ingresos.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0040" y="5312664"/>
            <a:ext cx="54864" cy="457200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5312664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" y="533095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auspiciadores actuales tienen más razones para renovar si PME les ofrece canales de distribución de marca activos, no solo logos.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0" y="6656832"/>
            <a:ext cx="4050792" cy="201168"/>
          </a:xfrm>
          <a:prstGeom prst="rect">
            <a:avLst/>
          </a:prstGeom>
          <a:solidFill>
            <a:srgbClr val="0058A7"/>
          </a:solidFill>
          <a:ln w="12700">
            <a:solidFill>
              <a:srgbClr val="0058A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50792" y="6656832"/>
            <a:ext cx="4059936" cy="201168"/>
          </a:xfrm>
          <a:prstGeom prst="rect">
            <a:avLst/>
          </a:prstGeom>
          <a:solidFill>
            <a:srgbClr val="26B7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10728" y="6656832"/>
            <a:ext cx="4050792" cy="201168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247120" y="6400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EE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01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60120" y="40233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Mercado Inmobiliario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22960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RECURRENTE  ·  BAJO TICKET  ·  ALTA ESCALA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20040" y="1143000"/>
            <a:ext cx="5303520" cy="2286000"/>
          </a:xfrm>
          <a:prstGeom prst="rect">
            <a:avLst/>
          </a:prstGeom>
          <a:solidFill>
            <a:srgbClr val="0A1E3D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1234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EE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2920" y="1536192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vía email / WhatsApp con cambios semanales en el mercado: nuevos proyectos en una zona, variación de precio m², divergencias PME vs Nexo, velocidad de ventas.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89320" y="1143000"/>
            <a:ext cx="5852160" cy="2286000"/>
          </a:xfrm>
          <a:prstGeom prst="rect">
            <a:avLst/>
          </a:prstGeom>
          <a:solidFill>
            <a:srgbClr val="0A1E3D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7220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6B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PRECIOS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172200" y="1600200"/>
            <a:ext cx="1783080" cy="1691640"/>
          </a:xfrm>
          <a:prstGeom prst="rect">
            <a:avLst/>
          </a:prstGeom>
          <a:solidFill>
            <a:srgbClr val="1A2B40"/>
          </a:solidFill>
          <a:ln w="12700">
            <a:solidFill>
              <a:srgbClr val="8899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172200" y="16642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72200" y="19385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S/. 79/mes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63640" y="2350008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zona · 3 alertas/sem · Email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065008" y="1600200"/>
            <a:ext cx="1783080" cy="1691640"/>
          </a:xfrm>
          <a:prstGeom prst="rect">
            <a:avLst/>
          </a:prstGeom>
          <a:solidFill>
            <a:srgbClr val="1A2B40"/>
          </a:solidFill>
          <a:ln w="12700">
            <a:solidFill>
              <a:srgbClr val="2EE0A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065008" y="16642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E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065008" y="19385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S/. 149/mes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156448" y="2350008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zonas · alertas diarias · Email + WhatsApp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9957816" y="1600200"/>
            <a:ext cx="1783080" cy="1691640"/>
          </a:xfrm>
          <a:prstGeom prst="rect">
            <a:avLst/>
          </a:prstGeom>
          <a:solidFill>
            <a:srgbClr val="1A2B40"/>
          </a:solidFill>
          <a:ln w="12700">
            <a:solidFill>
              <a:srgbClr val="C8A84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957816" y="16642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9957816" y="19385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S/. 390/mes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049256" y="2350008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límite de zonas · API webhook · Branding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20040" y="3611880"/>
            <a:ext cx="3703320" cy="2468880"/>
          </a:xfrm>
          <a:prstGeom prst="rect">
            <a:avLst/>
          </a:prstGeom>
          <a:solidFill>
            <a:srgbClr val="0A1E3D"/>
          </a:solidFill>
          <a:ln w="12700">
            <a:solidFill>
              <a:srgbClr val="5F7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20040" y="3611880"/>
            <a:ext cx="3703320" cy="64008"/>
          </a:xfrm>
          <a:prstGeom prst="rect">
            <a:avLst/>
          </a:prstGeom>
          <a:solidFill>
            <a:srgbClr val="5F7EFF"/>
          </a:solidFill>
          <a:ln w="12700">
            <a:solidFill>
              <a:srgbClr val="5F7E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3749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F7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OBJETIVO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02920" y="41148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Inmobiliarias medianas · Notarías · Tasadores · Agentes independientes · 5,000+ prospectos activos en Lima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251960" y="3611880"/>
            <a:ext cx="3703320" cy="2468880"/>
          </a:xfrm>
          <a:prstGeom prst="rect">
            <a:avLst/>
          </a:prstGeom>
          <a:solidFill>
            <a:srgbClr val="0A1E3D"/>
          </a:solidFill>
          <a:ln w="12700">
            <a:solidFill>
              <a:srgbClr val="2EE0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251960" y="3611880"/>
            <a:ext cx="3703320" cy="64008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434840" y="3749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E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ANUAL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434840" y="41148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suscriptores PRO = S/. 894,000/año · Sin inversión en ventas: el reporte gratuito es el funnel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8183880" y="3611880"/>
            <a:ext cx="3703320" cy="2468880"/>
          </a:xfrm>
          <a:prstGeom prst="rect">
            <a:avLst/>
          </a:prstGeom>
          <a:solidFill>
            <a:srgbClr val="0A1E3D"/>
          </a:solidFill>
          <a:ln w="12700">
            <a:solidFill>
              <a:srgbClr val="C8A8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183880" y="3611880"/>
            <a:ext cx="3703320" cy="6400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66760" y="3749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PALANCA PARA AUSPICIADORES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8366760" y="41148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alerta lleva branding del sponsor. Un banco hipotecario paga por aparecer semanalmente ante compradores activos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0" y="6656832"/>
            <a:ext cx="4050792" cy="201168"/>
          </a:xfrm>
          <a:prstGeom prst="rect">
            <a:avLst/>
          </a:prstGeom>
          <a:solidFill>
            <a:srgbClr val="0058A7"/>
          </a:solidFill>
          <a:ln w="12700">
            <a:solidFill>
              <a:srgbClr val="0058A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050792" y="6656832"/>
            <a:ext cx="4059936" cy="201168"/>
          </a:xfrm>
          <a:prstGeom prst="rect">
            <a:avLst/>
          </a:prstGeom>
          <a:solidFill>
            <a:srgbClr val="26B7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110728" y="6656832"/>
            <a:ext cx="4050792" cy="201168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1247120" y="6400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00E29"/>
          </a:solidFill>
          <a:ln w="12700">
            <a:solidFill>
              <a:srgbClr val="000E2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6B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02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60120" y="40233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Datos PME + Nexo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20040" y="1143000"/>
            <a:ext cx="5303520" cy="3200400"/>
          </a:xfrm>
          <a:prstGeom prst="rect">
            <a:avLst/>
          </a:prstGeom>
          <a:solidFill>
            <a:srgbClr val="0A1E3D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1234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6B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LLAMADA API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1600200"/>
            <a:ext cx="5120640" cy="2606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EE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/v1/pme/precio-m2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EE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?distrito=miraflores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EE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&amp;fuente=pme,nexo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EE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&amp;periodo=2025-Q1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EE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Response: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EE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 "distrito": "Miraflores",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EE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"pme_precio_m2": 2840,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EE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"nexo_precio_m2": 3150,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EE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"delta_pct": "+10.9%",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EE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"fuente": "CAPECO-PME" }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89320" y="1143000"/>
            <a:ext cx="5852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7220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5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MERCADO LO NECESITA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172200" y="16002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🏦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629400" y="16002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bancos hipotecarios validan inmuebles para créditos. Sin data PME, usan tasadores con criterio propio.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72200" y="226771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629400" y="226771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como Urbania o LaEncontré muestran precios de portal. Ninguna tiene dato censal.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72200" y="293522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629400" y="293522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Integradores de ERP de constructoras necesitan precios de mercado para costeos automáticos.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72200" y="360273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629400" y="360273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 sello CAPECO es la única con respaldo institucional. Eso tiene valor legal y de auditoría.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2004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5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PRECIOS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846320"/>
          <a:ext cx="11521440" cy="155448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286000"/>
                <a:gridCol w="5120640"/>
              </a:tblGrid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Llamadas/mes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USD/mes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Fintech / App pequeña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inmobiliario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Ilimitado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 / ERP / Gov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7"/>
          <p:cNvSpPr/>
          <p:nvPr/>
        </p:nvSpPr>
        <p:spPr>
          <a:xfrm>
            <a:off x="0" y="6656832"/>
            <a:ext cx="4050792" cy="201168"/>
          </a:xfrm>
          <a:prstGeom prst="rect">
            <a:avLst/>
          </a:prstGeom>
          <a:solidFill>
            <a:srgbClr val="0058A7"/>
          </a:solidFill>
          <a:ln w="12700">
            <a:solidFill>
              <a:srgbClr val="0058A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050792" y="6656832"/>
            <a:ext cx="4059936" cy="201168"/>
          </a:xfrm>
          <a:prstGeom prst="rect">
            <a:avLst/>
          </a:prstGeom>
          <a:solidFill>
            <a:srgbClr val="26B7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110728" y="6656832"/>
            <a:ext cx="4050792" cy="201168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1247120" y="6400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F7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03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60120" y="402336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PME de Mercado Inmobiliario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20040" y="1097280"/>
            <a:ext cx="11521440" cy="1280160"/>
          </a:xfrm>
          <a:prstGeom prst="rect">
            <a:avLst/>
          </a:prstGeom>
          <a:solidFill>
            <a:srgbClr val="1A2B40"/>
          </a:solidFill>
          <a:ln w="12700">
            <a:solidFill>
              <a:srgbClr val="5F7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097280"/>
            <a:ext cx="54864" cy="1280160"/>
          </a:xfrm>
          <a:prstGeom prst="rect">
            <a:avLst/>
          </a:prstGeom>
          <a:solidFill>
            <a:srgbClr val="5F7EFF"/>
          </a:solidFill>
          <a:ln w="12700">
            <a:solidFill>
              <a:srgbClr val="5F7E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2344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i="1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existe en Perú un índice oficial de precios inmobiliarios con metodología censal. PME tiene la data para ser EL número de referencia del sector — como el IPC, pero para vivienda."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20040" y="2560320"/>
            <a:ext cx="3703320" cy="1828800"/>
          </a:xfrm>
          <a:prstGeom prst="rect">
            <a:avLst/>
          </a:prstGeom>
          <a:solidFill>
            <a:srgbClr val="0A1E3D"/>
          </a:solidFill>
          <a:ln w="12700">
            <a:solidFill>
              <a:srgbClr val="5F7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4632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33272" y="26700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5F7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5F7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m²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4632" y="32461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promedio ponderado m² Lima por distrito y segmento. Actualización mensual. Comparativo año anterior.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51960" y="2560320"/>
            <a:ext cx="3703320" cy="1828800"/>
          </a:xfrm>
          <a:prstGeom prst="rect">
            <a:avLst/>
          </a:prstGeom>
          <a:solidFill>
            <a:srgbClr val="0A1E3D"/>
          </a:solidFill>
          <a:ln w="12700">
            <a:solidFill>
              <a:srgbClr val="26B7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416552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965192" y="26700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6B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6B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416552" y="32461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vendidas por mes / stock disponible. Indica si el mercado está caliente, estable o enfriándose.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183880" y="2560320"/>
            <a:ext cx="3703320" cy="1828800"/>
          </a:xfrm>
          <a:prstGeom prst="rect">
            <a:avLst/>
          </a:prstGeom>
          <a:solidFill>
            <a:srgbClr val="0A1E3D"/>
          </a:solidFill>
          <a:ln w="12700">
            <a:solidFill>
              <a:srgbClr val="2EE0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348472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897112" y="26700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EE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EE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348472" y="32461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nuevos ingresados al mercado. Anticipa la oferta futura y presión sobre precios por zona.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20040" y="4553712"/>
            <a:ext cx="11521440" cy="1920240"/>
          </a:xfrm>
          <a:prstGeom prst="rect">
            <a:avLst/>
          </a:prstGeom>
          <a:solidFill>
            <a:srgbClr val="1A2B4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02920" y="4645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— COSTO CASI CERO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02920" y="5029200"/>
            <a:ext cx="256032" cy="25603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5029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E29"/>
                </a:solidFill>
              </a:rPr>
              <a:t>1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68680" y="502005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Estandarizar metodología de cálculo (2 semanas)  →  Publicar en pme.pe con diseño limpio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02920" y="5486400"/>
            <a:ext cx="256032" cy="25603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5486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E29"/>
                </a:solidFill>
              </a:rPr>
              <a:t>2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68680" y="547725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nota de prensa a Gestión, El Comercio, Semana Económica con el primer Índice PME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02920" y="5943600"/>
            <a:ext cx="256032" cy="25603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5943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E29"/>
                </a:solidFill>
              </a:rPr>
              <a:t>3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68680" y="593445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medios lo citen, los sponsors quieren aparecer en ese contexto — se vende solo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0" y="6656832"/>
            <a:ext cx="4050792" cy="201168"/>
          </a:xfrm>
          <a:prstGeom prst="rect">
            <a:avLst/>
          </a:prstGeom>
          <a:solidFill>
            <a:srgbClr val="0058A7"/>
          </a:solidFill>
          <a:ln w="12700">
            <a:solidFill>
              <a:srgbClr val="0058A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050792" y="6656832"/>
            <a:ext cx="4059936" cy="201168"/>
          </a:xfrm>
          <a:prstGeom prst="rect">
            <a:avLst/>
          </a:prstGeom>
          <a:solidFill>
            <a:srgbClr val="26B7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110728" y="6656832"/>
            <a:ext cx="4050792" cy="201168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247120" y="6400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00E29"/>
          </a:solidFill>
          <a:ln w="12700">
            <a:solidFill>
              <a:srgbClr val="000E2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04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60120" y="40233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 Report — Inteligencia de Inversión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11430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143000"/>
            <a:ext cx="3657600" cy="502920"/>
          </a:xfrm>
          <a:prstGeom prst="rect">
            <a:avLst/>
          </a:prstGeom>
          <a:solidFill>
            <a:srgbClr val="000E29"/>
          </a:solidFill>
          <a:ln w="12700">
            <a:solidFill>
              <a:srgbClr val="000E2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2070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DUE DILIGENCE REPORT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Precio m² histórico (8 trimestres)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148840"/>
            <a:ext cx="3200400" cy="0"/>
          </a:xfrm>
          <a:prstGeom prst="line">
            <a:avLst/>
          </a:prstGeom>
          <a:noFill/>
          <a:ln w="12700">
            <a:solidFill>
              <a:srgbClr val="EEF2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1762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Velocidad de ventas vs mercado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587752"/>
            <a:ext cx="3200400" cy="0"/>
          </a:xfrm>
          <a:prstGeom prst="line">
            <a:avLst/>
          </a:prstGeom>
          <a:noFill/>
          <a:ln w="12700">
            <a:solidFill>
              <a:srgbClr val="EEF2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6151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Competidores activos en radio 1km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3026664"/>
            <a:ext cx="3200400" cy="0"/>
          </a:xfrm>
          <a:prstGeom prst="line">
            <a:avLst/>
          </a:prstGeom>
          <a:noFill/>
          <a:ln w="12700">
            <a:solidFill>
              <a:srgbClr val="EEF2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05409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Comparativo PME vs Nexo del proyecto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3465576"/>
            <a:ext cx="3200400" cy="0"/>
          </a:xfrm>
          <a:prstGeom prst="line">
            <a:avLst/>
          </a:prstGeom>
          <a:noFill/>
          <a:ln w="12700">
            <a:solidFill>
              <a:srgbClr val="EEF2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4930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Proyección de demanda por tipología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904488"/>
            <a:ext cx="3200400" cy="0"/>
          </a:xfrm>
          <a:prstGeom prst="line">
            <a:avLst/>
          </a:prstGeom>
          <a:noFill/>
          <a:ln w="12700">
            <a:solidFill>
              <a:srgbClr val="EEF2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931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Score de riesgo de inversión (IA)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4343400"/>
            <a:ext cx="3200400" cy="0"/>
          </a:xfrm>
          <a:prstGeom prst="line">
            <a:avLst/>
          </a:prstGeom>
          <a:noFill/>
          <a:ln w="12700">
            <a:solidFill>
              <a:srgbClr val="EEF2F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370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Conclusión y recomendación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4782312"/>
            <a:ext cx="3200400" cy="0"/>
          </a:xfrm>
          <a:prstGeom prst="line">
            <a:avLst/>
          </a:prstGeom>
          <a:noFill/>
          <a:ln w="12700">
            <a:solidFill>
              <a:srgbClr val="EEF2F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8097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— —  Sello CAPECO  — — —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297680" y="1143000"/>
            <a:ext cx="3657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480560" y="1234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POR TIPO DE INFORME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554480"/>
          <a:ext cx="3520440" cy="1508760"/>
        </p:xfrm>
        <a:graphic>
          <a:graphicData uri="http://schemas.openxmlformats.org/drawingml/2006/table">
            <a:tbl>
              <a:tblPr/>
              <a:tblGrid>
                <a:gridCol w="1645920"/>
                <a:gridCol w="1005840"/>
                <a:gridCol w="86868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 (1 proyecto)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hrs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Zonal (1 distrito)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hrs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Estratégico (zona + comp.)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1,800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días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anual (12 informes)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15,000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48 hrs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3"/>
          <p:cNvSpPr/>
          <p:nvPr/>
        </p:nvSpPr>
        <p:spPr>
          <a:xfrm>
            <a:off x="4297680" y="3337560"/>
            <a:ext cx="3657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4480560" y="3429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OBJETIVO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480560" y="37673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Fondos de inversión inmobiliaria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480560" y="40965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AFP con portafolio de activos reales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480560" y="44256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Empresas comprando sede corporativa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4480560" y="47548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Constructoras evaluando terrenos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4480560" y="50840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Estudios legales / notarías (herencias, litigios)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8275320" y="1143000"/>
            <a:ext cx="3566160" cy="4343400"/>
          </a:xfrm>
          <a:prstGeom prst="rect">
            <a:avLst/>
          </a:prstGeom>
          <a:solidFill>
            <a:srgbClr val="000E29"/>
          </a:solidFill>
          <a:ln w="12700">
            <a:solidFill>
              <a:srgbClr val="C8A8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8275320" y="1143000"/>
            <a:ext cx="3566160" cy="6400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412480" y="12618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PALANCA PARA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AUSPICIADORES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8412480" y="192024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banco o fondo que paga S/. 10,000/año en auspicio Platino puede además comprar 10 informes de due diligence al año con 30% de descuento.
</a:t>
            </a:r>
            <a:pPr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auspicio deja de ser marketing
</a:t>
            </a:r>
            <a:pPr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se convierte en acceso a
</a:t>
            </a:r>
            <a:pPr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de inversión.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es un argumento de renovación completamente diferente al de 'visibilidad de marca'.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0" y="6656832"/>
            <a:ext cx="4050792" cy="201168"/>
          </a:xfrm>
          <a:prstGeom prst="rect">
            <a:avLst/>
          </a:prstGeom>
          <a:solidFill>
            <a:srgbClr val="0058A7"/>
          </a:solidFill>
          <a:ln w="12700">
            <a:solidFill>
              <a:srgbClr val="0058A7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050792" y="6656832"/>
            <a:ext cx="4059936" cy="201168"/>
          </a:xfrm>
          <a:prstGeom prst="rect">
            <a:avLst/>
          </a:prstGeom>
          <a:solidFill>
            <a:srgbClr val="26B7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110728" y="6656832"/>
            <a:ext cx="4050792" cy="201168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11247120" y="6400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05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60120" y="402336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para Agentes Inmobiliarios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20040" y="1143000"/>
            <a:ext cx="5029200" cy="4983480"/>
          </a:xfrm>
          <a:prstGeom prst="rect">
            <a:avLst/>
          </a:prstGeom>
          <a:solidFill>
            <a:srgbClr val="0A1E3D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12618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FUNNEL FREEMIUM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691640"/>
            <a:ext cx="4389120" cy="868680"/>
          </a:xfrm>
          <a:prstGeom prst="rect">
            <a:avLst/>
          </a:prstGeom>
          <a:solidFill>
            <a:srgbClr val="1A2B40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7556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 PÚBLICO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20482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~10,000 visitas/mes · 100%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22960" y="2743200"/>
            <a:ext cx="3749040" cy="868680"/>
          </a:xfrm>
          <a:prstGeom prst="rect">
            <a:avLst/>
          </a:prstGeom>
          <a:solidFill>
            <a:srgbClr val="1A2B40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807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B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CALIFICADOS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30998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~800/mes · 8%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143000" y="3794760"/>
            <a:ext cx="3108960" cy="868680"/>
          </a:xfrm>
          <a:prstGeom prst="rect">
            <a:avLst/>
          </a:prstGeom>
          <a:solidFill>
            <a:srgbClr val="1A2B4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3858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PRO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43000" y="41513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~150/mes · 1.5%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463040" y="4846320"/>
            <a:ext cx="2468880" cy="868680"/>
          </a:xfrm>
          <a:prstGeom prst="rect">
            <a:avLst/>
          </a:prstGeom>
          <a:solidFill>
            <a:srgbClr val="1A2B40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63040" y="49103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SUSCRIPTORES EMPRESA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463040" y="52029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~30/mes · 0.3%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669280" y="1143000"/>
            <a:ext cx="6172200" cy="2468880"/>
          </a:xfrm>
          <a:prstGeom prst="rect">
            <a:avLst/>
          </a:prstGeom>
          <a:solidFill>
            <a:srgbClr val="0A1E3D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852160" y="12344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INCLUYE CADA PLAN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852160" y="1600200"/>
            <a:ext cx="1874520" cy="1874520"/>
          </a:xfrm>
          <a:prstGeom prst="rect">
            <a:avLst/>
          </a:prstGeom>
          <a:solidFill>
            <a:srgbClr val="1A2B40"/>
          </a:solidFill>
          <a:ln w="12700">
            <a:solidFill>
              <a:srgbClr val="8899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852160" y="16642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852160" y="1920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943600" y="23042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Precio m² por distrito (1 zona)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943600" y="2624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Informe mensual público PME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943600" y="2944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Sin acceso histórico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863840" y="1600200"/>
            <a:ext cx="1874520" cy="1874520"/>
          </a:xfrm>
          <a:prstGeom prst="rect">
            <a:avLst/>
          </a:prstGeom>
          <a:solidFill>
            <a:srgbClr val="1A2B4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863840" y="16642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863840" y="1920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S/. 49/mes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7955280" y="23042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Todas las zonas de Lima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955280" y="2624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Histórico 8 trimestres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955280" y="2944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PME vs Nexo comparativo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955280" y="3264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Exportación PDF con sello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9875520" y="1600200"/>
            <a:ext cx="1874520" cy="1874520"/>
          </a:xfrm>
          <a:prstGeom prst="rect">
            <a:avLst/>
          </a:prstGeom>
          <a:solidFill>
            <a:srgbClr val="1A2B40"/>
          </a:solidFill>
          <a:ln w="12700">
            <a:solidFill>
              <a:srgbClr val="C8A84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9875520" y="16642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9875520" y="1920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S/. 199/mes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9966960" y="23042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 agentes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9966960" y="2624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Dashboard agencia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9966960" y="2944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Alerta por zona asignada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9966960" y="3264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Branding agencia en PDFs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669280" y="3749040"/>
            <a:ext cx="6172200" cy="2377440"/>
          </a:xfrm>
          <a:prstGeom prst="rect">
            <a:avLst/>
          </a:prstGeom>
          <a:solidFill>
            <a:srgbClr val="0A1E3D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5852160" y="38404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EE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DEL PRODUCTO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5806440" y="4206240"/>
            <a:ext cx="5897880" cy="475488"/>
          </a:xfrm>
          <a:prstGeom prst="rect">
            <a:avLst/>
          </a:prstGeom>
          <a:solidFill>
            <a:srgbClr val="1A2B4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943600" y="42336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agentes PRO × S/.49/mes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9784080" y="42336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E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S/. 294,000/año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5806440" y="4773168"/>
            <a:ext cx="5897880" cy="475488"/>
          </a:xfrm>
          <a:prstGeom prst="rect">
            <a:avLst/>
          </a:prstGeom>
          <a:solidFill>
            <a:srgbClr val="1A2B4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943600" y="480060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equipos × S/.199/mes</a:t>
            </a:r>
            <a:endParaRPr lang="en-US" sz="1150" dirty="0"/>
          </a:p>
        </p:txBody>
      </p:sp>
      <p:sp>
        <p:nvSpPr>
          <p:cNvPr id="49" name="Text 46"/>
          <p:cNvSpPr/>
          <p:nvPr/>
        </p:nvSpPr>
        <p:spPr>
          <a:xfrm>
            <a:off x="9784080" y="480060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6B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S/. 238,800/año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806440" y="5340096"/>
            <a:ext cx="5897880" cy="475488"/>
          </a:xfrm>
          <a:prstGeom prst="rect">
            <a:avLst/>
          </a:prstGeom>
          <a:solidFill>
            <a:srgbClr val="1A2B4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43600" y="536752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combinado (escenario 18 meses)</a:t>
            </a:r>
            <a:endParaRPr lang="en-US" sz="1150" dirty="0"/>
          </a:p>
        </p:txBody>
      </p:sp>
      <p:sp>
        <p:nvSpPr>
          <p:cNvPr id="52" name="Text 49"/>
          <p:cNvSpPr/>
          <p:nvPr/>
        </p:nvSpPr>
        <p:spPr>
          <a:xfrm>
            <a:off x="9784080" y="536752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~S/. 530,000/año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0" y="6656832"/>
            <a:ext cx="4050792" cy="201168"/>
          </a:xfrm>
          <a:prstGeom prst="rect">
            <a:avLst/>
          </a:prstGeom>
          <a:solidFill>
            <a:srgbClr val="0058A7"/>
          </a:solidFill>
          <a:ln w="12700">
            <a:solidFill>
              <a:srgbClr val="0058A7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050792" y="6656832"/>
            <a:ext cx="4059936" cy="201168"/>
          </a:xfrm>
          <a:prstGeom prst="rect">
            <a:avLst/>
          </a:prstGeom>
          <a:solidFill>
            <a:srgbClr val="26B7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110728" y="6656832"/>
            <a:ext cx="4050792" cy="201168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1247120" y="6400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00E29"/>
          </a:solidFill>
          <a:ln w="12700">
            <a:solidFill>
              <a:srgbClr val="000E2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06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60120" y="402336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Enterprise — Data White-Label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20040" y="1143000"/>
            <a:ext cx="502920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143000"/>
            <a:ext cx="5029200" cy="64008"/>
          </a:xfrm>
          <a:prstGeom prst="rect">
            <a:avLst/>
          </a:prstGeom>
          <a:solidFill>
            <a:srgbClr val="FF4E8A"/>
          </a:solidFill>
          <a:ln w="12700">
            <a:solidFill>
              <a:srgbClr val="FF4E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2618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CONCEPTO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2920" y="1627632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la data PME+Nexo procesada a empresas que quieren integrarla en sus propios productos. Ellos muestran "Precio m² certificado por CAPECO" en su plataforma. Nosotros cobramos licencia anual.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3108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DIFERENCIAL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02920" y="3493008"/>
            <a:ext cx="201168" cy="201168"/>
          </a:xfrm>
          <a:prstGeom prst="ellipse">
            <a:avLst/>
          </a:prstGeom>
          <a:solidFill>
            <a:srgbClr val="FF4E8A"/>
          </a:solidFill>
          <a:ln w="12700">
            <a:solidFill>
              <a:srgbClr val="FF4E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345643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censal = 100% cobertura, ningún portal tiene esto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3995928"/>
            <a:ext cx="201168" cy="201168"/>
          </a:xfrm>
          <a:prstGeom prst="ellipse">
            <a:avLst/>
          </a:prstGeom>
          <a:solidFill>
            <a:srgbClr val="FF4E8A"/>
          </a:solidFill>
          <a:ln w="12700">
            <a:solidFill>
              <a:srgbClr val="FF4E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" y="395935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Sello CAPECO = autoridad institucional, valor legal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4498848"/>
            <a:ext cx="201168" cy="201168"/>
          </a:xfrm>
          <a:prstGeom prst="ellipse">
            <a:avLst/>
          </a:prstGeom>
          <a:solidFill>
            <a:srgbClr val="FF4E8A"/>
          </a:solidFill>
          <a:ln w="12700">
            <a:solidFill>
              <a:srgbClr val="FF4E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4672" y="446227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desde 2022 = series de tiempo para modelos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5001768"/>
            <a:ext cx="201168" cy="201168"/>
          </a:xfrm>
          <a:prstGeom prst="ellipse">
            <a:avLst/>
          </a:prstGeom>
          <a:solidFill>
            <a:srgbClr val="FF4E8A"/>
          </a:solidFill>
          <a:ln w="12700">
            <a:solidFill>
              <a:srgbClr val="FF4E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" y="496519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PME+Nexo = la única fuente dual del mercado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69280" y="1143000"/>
            <a:ext cx="292608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852160" y="12618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COMPRARÍA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806440" y="1664208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236208" y="16642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Portales inmobiliarios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36208" y="19202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Urbania, LaEncontré, Nexo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806440" y="2340864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🏦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236208" y="23408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hipotecarios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236208" y="25968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BCP, Interbank, BBVA, Scotiabank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806440" y="301752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236208" y="3017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de agentes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236208" y="32735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inmobiliario con data real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806440" y="3694176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236208" y="36941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Constructoras grandes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236208" y="39502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inteligencia competitiva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806440" y="4370832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🏛️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6236208" y="43708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de gobierno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236208" y="46268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MVCS, BCRP, municipalidades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806440" y="5047488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6236208" y="5047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Consultoras / Research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236208" y="53035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JLL, CBRE, Colliers Perú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8915400" y="1143000"/>
            <a:ext cx="2926080" cy="4983480"/>
          </a:xfrm>
          <a:prstGeom prst="rect">
            <a:avLst/>
          </a:prstGeom>
          <a:solidFill>
            <a:srgbClr val="000E29"/>
          </a:solidFill>
          <a:ln w="12700">
            <a:solidFill>
              <a:srgbClr val="FF4E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8915400" y="1143000"/>
            <a:ext cx="2926080" cy="64008"/>
          </a:xfrm>
          <a:prstGeom prst="rect">
            <a:avLst/>
          </a:prstGeom>
          <a:solidFill>
            <a:srgbClr val="FF4E8A"/>
          </a:solidFill>
          <a:ln w="12700">
            <a:solidFill>
              <a:srgbClr val="FF4E8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052560" y="12618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LICENCIAMIENTO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9052560" y="1901952"/>
            <a:ext cx="2651760" cy="896112"/>
          </a:xfrm>
          <a:prstGeom prst="rect">
            <a:avLst/>
          </a:prstGeom>
          <a:solidFill>
            <a:srgbClr val="0A1E3D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9189720" y="19568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9189720" y="2176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5,000/año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9189720" y="2432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datos PME+sello en plataforma. Sin API directa.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9052560" y="2889504"/>
            <a:ext cx="2651760" cy="896112"/>
          </a:xfrm>
          <a:prstGeom prst="rect">
            <a:avLst/>
          </a:prstGeom>
          <a:solidFill>
            <a:srgbClr val="0A1E3D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9189720" y="2944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9189720" y="31638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10,000/año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9189720" y="3419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completa. Datos en tiempo real. Soporte técnico.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9052560" y="3877056"/>
            <a:ext cx="2651760" cy="896112"/>
          </a:xfrm>
          <a:prstGeom prst="rect">
            <a:avLst/>
          </a:prstGeom>
          <a:solidFill>
            <a:srgbClr val="0A1E3D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9189720" y="3931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EXCLUSIVIDAD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ZONAL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9189720" y="41513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25,000/año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9189720" y="4407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exclusivos de distribución en 1 vertical (ej. solo banca).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9052560" y="4864608"/>
            <a:ext cx="2651760" cy="896112"/>
          </a:xfrm>
          <a:prstGeom prst="rect">
            <a:avLst/>
          </a:prstGeom>
          <a:solidFill>
            <a:srgbClr val="0A1E3D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9189720" y="49194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/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9189720" y="5138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negociar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9189720" y="5394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MVCS, BCRP, municipalidades. Incluye capacitación y reportes especiales.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0" y="6656832"/>
            <a:ext cx="4050792" cy="201168"/>
          </a:xfrm>
          <a:prstGeom prst="rect">
            <a:avLst/>
          </a:prstGeom>
          <a:solidFill>
            <a:srgbClr val="0058A7"/>
          </a:solidFill>
          <a:ln w="12700">
            <a:solidFill>
              <a:srgbClr val="0058A7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050792" y="6656832"/>
            <a:ext cx="4059936" cy="201168"/>
          </a:xfrm>
          <a:prstGeom prst="rect">
            <a:avLst/>
          </a:prstGeom>
          <a:solidFill>
            <a:srgbClr val="26B7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110728" y="6656832"/>
            <a:ext cx="4050792" cy="201168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1247120" y="6400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AUSPICIADORES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los 9 sponsors actuales deben renovar — y pagar más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5394960" cy="2103120"/>
          </a:xfrm>
          <a:prstGeom prst="rect">
            <a:avLst/>
          </a:prstGeom>
          <a:solidFill>
            <a:srgbClr val="1A2B4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— Propuesta antigua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Logo en el estudio PDF trimestral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751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Mención en presentaciones CAPECO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Acceso a datos del sector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7977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"Visibilidad de marca"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143000"/>
            <a:ext cx="5577840" cy="2103120"/>
          </a:xfrm>
          <a:prstGeom prst="rect">
            <a:avLst/>
          </a:prstGeom>
          <a:solidFill>
            <a:srgbClr val="0A1E3D"/>
          </a:solidFill>
          <a:ln w="12700">
            <a:solidFill>
              <a:srgbClr val="C8A8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143000"/>
            <a:ext cx="5577840" cy="6400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234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— Propuesta expandida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46520" y="157276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Canal de alertas semanales con branding sponsor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46520" y="19202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Reportes de due diligence con descuento 30%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46520" y="226771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Integración API de datos PME+Nexo (si aplica)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46520" y="261518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Acceso beta a App IA de Valorización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46520" y="296265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Mención en Índice PME en medios especializados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" y="3429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EE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NUEVOS PAQUETES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67328"/>
          <a:ext cx="11521440" cy="2697480"/>
        </p:xfrm>
        <a:graphic>
          <a:graphicData uri="http://schemas.openxmlformats.org/drawingml/2006/table">
            <a:tbl>
              <a:tblPr/>
              <a:tblGrid>
                <a:gridCol w="3200400"/>
                <a:gridCol w="1645920"/>
                <a:gridCol w="1920240"/>
                <a:gridCol w="1920240"/>
                <a:gridCol w="2834640"/>
              </a:tblGrid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Beneficio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S/. 8,000/año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ACC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ACC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S/. 15,000/año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S/. 28,000/año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B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PLATINO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B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S/. 55,000/año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 en Estudio PME (PDF)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Alertas con branding sponsor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zona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zonas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límite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Diligence Reports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2/año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6/año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12/año (−30%)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API (llamadas/mes)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Ilimitado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 PME — mención en medios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exclusivo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App IA Valorización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Acceso anticipado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privado sponsor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personalizado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0" y="6656832"/>
            <a:ext cx="4050792" cy="201168"/>
          </a:xfrm>
          <a:prstGeom prst="rect">
            <a:avLst/>
          </a:prstGeom>
          <a:solidFill>
            <a:srgbClr val="0058A7"/>
          </a:solidFill>
          <a:ln w="12700">
            <a:solidFill>
              <a:srgbClr val="0058A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050792" y="6656832"/>
            <a:ext cx="4059936" cy="201168"/>
          </a:xfrm>
          <a:prstGeom prst="rect">
            <a:avLst/>
          </a:prstGeom>
          <a:solidFill>
            <a:srgbClr val="26B7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110728" y="6656832"/>
            <a:ext cx="4050792" cy="201168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247120" y="6400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00E29"/>
          </a:solidFill>
          <a:ln w="12700">
            <a:solidFill>
              <a:srgbClr val="000E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6B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INGRESOS CONSOLIDADO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combinado de los 6 productos — Horizonte 24 meses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43000"/>
          <a:ext cx="11521440" cy="3200400"/>
        </p:xfrm>
        <a:graphic>
          <a:graphicData uri="http://schemas.openxmlformats.org/drawingml/2006/table">
            <a:tbl>
              <a:tblPr/>
              <a:tblGrid>
                <a:gridCol w="3200400"/>
                <a:gridCol w="1645920"/>
                <a:gridCol w="1828800"/>
                <a:gridCol w="1463040"/>
                <a:gridCol w="1828800"/>
                <a:gridCol w="155448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promedio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 (24m)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 anual est.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ingreso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— Alertas de Mercado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Suscripción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S/. 120/mes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S/. 720,000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— API PME+Nexo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Suscripción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490/mes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176,400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— Índice PME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Sponsorships / PR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 — Due Diligence Reports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proyecto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120/año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108,000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— PME para Agentes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Suscripción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S/. 65/mes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S/. 468,000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 — PME 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Licencia 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10,000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50,000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E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ESTIMADO (24 meses)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58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~USD 2.0–2.5M/año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58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70%+ recurrente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480560"/>
            <a:ext cx="11521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5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DEL MODELO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48920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Las cifras son conservadoras: escenario base con penetración del 10–20% del mercado estimado por producto.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2920" y="527608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Ingresos por auspiciadores no incluidos en la tabla (actuales S/. 9 sponsors + renovación con nuevos paquetes Platino/Oro).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5660136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Conversión estimada de tráfico público a suscriptores PRO: 1.5% — estándar bajo en SaaS, alcanzable con funnel activo.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0" y="6656832"/>
            <a:ext cx="4050792" cy="201168"/>
          </a:xfrm>
          <a:prstGeom prst="rect">
            <a:avLst/>
          </a:prstGeom>
          <a:solidFill>
            <a:srgbClr val="0058A7"/>
          </a:solidFill>
          <a:ln w="12700">
            <a:solidFill>
              <a:srgbClr val="0058A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50792" y="6656832"/>
            <a:ext cx="4059936" cy="201168"/>
          </a:xfrm>
          <a:prstGeom prst="rect">
            <a:avLst/>
          </a:prstGeom>
          <a:solidFill>
            <a:srgbClr val="26B7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10728" y="6656832"/>
            <a:ext cx="4050792" cy="201168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247120" y="6400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F7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PRIORIZACIÓN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ingresos vs Tiempo al mercado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43000"/>
          <a:ext cx="11521440" cy="402336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463040"/>
                <a:gridCol w="1645920"/>
                <a:gridCol w="1280160"/>
                <a:gridCol w="2103120"/>
                <a:gridCol w="1097280"/>
              </a:tblGrid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mercado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clientes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 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auspiciadores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— Índice PME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sem.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(PR)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7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⬛⬛⬛⬛⬛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F7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AHORA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E0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— Alertas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 sem.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S/.120/mes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E0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(5,000+)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E0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⬛⬛⬛⬛⬜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E0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 MES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 — Due Diligence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sem.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(120/año)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proyecto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⬛⬛⬛⬛⬜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 MES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— PME Agentes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6–8 sem.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S/.65/mes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⬛⬛⬛⬛⬜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 MES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B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— API Datos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 sem.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490/mes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(30+)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B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⬛⬛⬛⬛⬛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B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 MES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4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 — 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12–16 sem.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10K/año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(5–10)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4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⬛⬛⬛⬛⬛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4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 MES 5+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5321808"/>
            <a:ext cx="11521440" cy="868680"/>
          </a:xfrm>
          <a:prstGeom prst="rect">
            <a:avLst/>
          </a:prstGeom>
          <a:solidFill>
            <a:srgbClr val="0A1E3D"/>
          </a:solidFill>
          <a:ln w="12700">
            <a:solidFill>
              <a:srgbClr val="5F7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54406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 clave: El Índice PME y las Alertas tienen el mejor ratio impacto/costo. Empezar por ahí genera tráfico, PR y suscriptores que alimentan todos los demás productos.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0" y="6656832"/>
            <a:ext cx="4050792" cy="201168"/>
          </a:xfrm>
          <a:prstGeom prst="rect">
            <a:avLst/>
          </a:prstGeom>
          <a:solidFill>
            <a:srgbClr val="0058A7"/>
          </a:solidFill>
          <a:ln w="12700">
            <a:solidFill>
              <a:srgbClr val="0058A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050792" y="6656832"/>
            <a:ext cx="4059936" cy="201168"/>
          </a:xfrm>
          <a:prstGeom prst="rect">
            <a:avLst/>
          </a:prstGeom>
          <a:solidFill>
            <a:srgbClr val="26B7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10728" y="6656832"/>
            <a:ext cx="4050792" cy="201168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247120" y="6400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00E29"/>
          </a:solidFill>
          <a:ln w="12700">
            <a:solidFill>
              <a:srgbClr val="000E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EE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LANZAMIENTO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90 días — De análisis a ingresos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3703320" cy="777240"/>
          </a:xfrm>
          <a:prstGeom prst="rect">
            <a:avLst/>
          </a:prstGeom>
          <a:solidFill>
            <a:srgbClr val="5F7EFF"/>
          </a:solidFill>
          <a:ln w="12700">
            <a:solidFill>
              <a:srgbClr val="5F7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70432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6868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PME +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37033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011680"/>
            <a:ext cx="54864" cy="457200"/>
          </a:xfrm>
          <a:prstGeom prst="rect">
            <a:avLst/>
          </a:prstGeom>
          <a:solidFill>
            <a:srgbClr val="5F7EFF"/>
          </a:solidFill>
          <a:ln w="12700">
            <a:solidFill>
              <a:srgbClr val="5F7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02996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Estandarizar metodología índice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54864" cy="457200"/>
          </a:xfrm>
          <a:prstGeom prst="rect">
            <a:avLst/>
          </a:prstGeom>
          <a:solidFill>
            <a:srgbClr val="5F7EFF"/>
          </a:solidFill>
          <a:ln w="12700">
            <a:solidFill>
              <a:srgbClr val="5F7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67004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página pública pme.pe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54864" cy="457200"/>
          </a:xfrm>
          <a:prstGeom prst="rect">
            <a:avLst/>
          </a:prstGeom>
          <a:solidFill>
            <a:srgbClr val="5F7EFF"/>
          </a:solidFill>
          <a:ln w="12700">
            <a:solidFill>
              <a:srgbClr val="5F7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31012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1er Índice PME Lima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931920"/>
            <a:ext cx="54864" cy="457200"/>
          </a:xfrm>
          <a:prstGeom prst="rect">
            <a:avLst/>
          </a:prstGeom>
          <a:solidFill>
            <a:srgbClr val="5F7EFF"/>
          </a:solidFill>
          <a:ln w="12700">
            <a:solidFill>
              <a:srgbClr val="5F7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95020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 prensa a Gestión + medios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572000"/>
            <a:ext cx="54864" cy="457200"/>
          </a:xfrm>
          <a:prstGeom prst="rect">
            <a:avLst/>
          </a:prstGeom>
          <a:solidFill>
            <a:srgbClr val="5F7EFF"/>
          </a:solidFill>
          <a:ln w="12700">
            <a:solidFill>
              <a:srgbClr val="5F7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459028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DDR piloto (cliente existente)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5212080"/>
            <a:ext cx="54864" cy="457200"/>
          </a:xfrm>
          <a:prstGeom prst="rect">
            <a:avLst/>
          </a:prstGeom>
          <a:solidFill>
            <a:srgbClr val="5F7EFF"/>
          </a:solidFill>
          <a:ln w="12700">
            <a:solidFill>
              <a:srgbClr val="5F7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523036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plantilla PDF con sello CAPECO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51960" y="1143000"/>
            <a:ext cx="3703320" cy="777240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51960" y="1170432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480060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0352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+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Agentes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51960" y="1920240"/>
            <a:ext cx="37033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34840" y="2011680"/>
            <a:ext cx="54864" cy="457200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9432" y="202996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alertas (email/WhatsApp)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34840" y="2651760"/>
            <a:ext cx="54864" cy="457200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9432" y="267004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branding de sponsors en alertas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434840" y="3291840"/>
            <a:ext cx="54864" cy="457200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9432" y="331012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beta cerrado (9 sponsors como primeros suscriptores)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34840" y="3931920"/>
            <a:ext cx="54864" cy="457200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9432" y="395020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 lite para agentes (login, reporte por zona)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434840" y="4572000"/>
            <a:ext cx="54864" cy="457200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99432" y="459028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free vs PRO activo en pme.pe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434840" y="5212080"/>
            <a:ext cx="54864" cy="457200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99432" y="523036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SDR 20 hrs/sem para agentes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183880" y="1143000"/>
            <a:ext cx="3703320" cy="777240"/>
          </a:xfrm>
          <a:prstGeom prst="rect">
            <a:avLst/>
          </a:prstGeom>
          <a:solidFill>
            <a:srgbClr val="26B7FF"/>
          </a:solidFill>
          <a:ln w="12700">
            <a:solidFill>
              <a:srgbClr val="26B7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183880" y="1170432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3800" dirty="0"/>
          </a:p>
        </p:txBody>
      </p:sp>
      <p:sp>
        <p:nvSpPr>
          <p:cNvPr id="41" name="Text 39"/>
          <p:cNvSpPr/>
          <p:nvPr/>
        </p:nvSpPr>
        <p:spPr>
          <a:xfrm>
            <a:off x="873252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23544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Renovación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183880" y="1920240"/>
            <a:ext cx="37033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366760" y="2011680"/>
            <a:ext cx="54864" cy="457200"/>
          </a:xfrm>
          <a:prstGeom prst="rect">
            <a:avLst/>
          </a:prstGeom>
          <a:solidFill>
            <a:srgbClr val="26B7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31352" y="202996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API pública (Swagger)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366760" y="2651760"/>
            <a:ext cx="54864" cy="457200"/>
          </a:xfrm>
          <a:prstGeom prst="rect">
            <a:avLst/>
          </a:prstGeom>
          <a:solidFill>
            <a:srgbClr val="26B7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31352" y="267004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3 clientes piloto API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366760" y="3291840"/>
            <a:ext cx="54864" cy="457200"/>
          </a:xfrm>
          <a:prstGeom prst="rect">
            <a:avLst/>
          </a:prstGeom>
          <a:solidFill>
            <a:srgbClr val="26B7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31352" y="331012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renovación 9 sponsors con nuevos paquetes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366760" y="3931920"/>
            <a:ext cx="54864" cy="457200"/>
          </a:xfrm>
          <a:prstGeom prst="rect">
            <a:avLst/>
          </a:prstGeom>
          <a:solidFill>
            <a:srgbClr val="26B7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31352" y="395020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3 candidatos Enterprise (Banco, Portal, Gov)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366760" y="4572000"/>
            <a:ext cx="54864" cy="457200"/>
          </a:xfrm>
          <a:prstGeom prst="rect">
            <a:avLst/>
          </a:prstGeom>
          <a:solidFill>
            <a:srgbClr val="26B7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31352" y="459028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de métricas: suscriptores, tráfico, MRR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366760" y="5212080"/>
            <a:ext cx="54864" cy="457200"/>
          </a:xfrm>
          <a:prstGeom prst="rect">
            <a:avLst/>
          </a:prstGeom>
          <a:solidFill>
            <a:srgbClr val="26B7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31352" y="523036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precios y tiers según feedback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0" y="6656832"/>
            <a:ext cx="4050792" cy="201168"/>
          </a:xfrm>
          <a:prstGeom prst="rect">
            <a:avLst/>
          </a:prstGeom>
          <a:solidFill>
            <a:srgbClr val="0058A7"/>
          </a:solidFill>
          <a:ln w="12700">
            <a:solidFill>
              <a:srgbClr val="0058A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050792" y="6656832"/>
            <a:ext cx="4059936" cy="201168"/>
          </a:xfrm>
          <a:prstGeom prst="rect">
            <a:avLst/>
          </a:prstGeom>
          <a:solidFill>
            <a:srgbClr val="26B7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10728" y="6656832"/>
            <a:ext cx="4050792" cy="201168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247120" y="6400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Y MITIGACIONES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puede salir mal — y cómo prevenirlo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1521440" cy="914400"/>
          </a:xfrm>
          <a:prstGeom prst="rect">
            <a:avLst/>
          </a:prstGeom>
          <a:solidFill>
            <a:srgbClr val="0A1E3D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54864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61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 Inmobiliario bloquea el scraping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212080" y="1298448"/>
            <a:ext cx="1188720" cy="228600"/>
          </a:xfrm>
          <a:prstGeom prst="rect">
            <a:avLst>
              <a:gd name="adj" fmla="val 2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12984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30352" y="16459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Explorar acuerdo comercial directo con Nexo. Alternativamente, usar Urbania o datos propios de CAPECO como sustituto. La diferenciación está en el dato PME, no en Nexo.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231136"/>
            <a:ext cx="11521440" cy="914400"/>
          </a:xfrm>
          <a:prstGeom prst="rect">
            <a:avLst/>
          </a:prstGeom>
          <a:solidFill>
            <a:srgbClr val="0A1E3D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231136"/>
            <a:ext cx="54864" cy="914400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3042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volumen de tráfico orgánico inicial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212080" y="2340864"/>
            <a:ext cx="1188720" cy="228600"/>
          </a:xfrm>
          <a:prstGeom prst="rect">
            <a:avLst>
              <a:gd name="adj" fmla="val 20000"/>
            </a:avLst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234086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30352" y="268833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El Índice PME + nota de prensa genera cobertura sin costo. Los 9 sponsors actuales como red de distribución ya son un canal. Activar base de CAPECO desde semana 1.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273552"/>
            <a:ext cx="11521440" cy="914400"/>
          </a:xfrm>
          <a:prstGeom prst="rect">
            <a:avLst/>
          </a:prstGeom>
          <a:solidFill>
            <a:srgbClr val="0A1E3D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73552"/>
            <a:ext cx="54864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3467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de portales (Urbania, Nexo) lanzando datos similares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212080" y="3383280"/>
            <a:ext cx="1188720" cy="228600"/>
          </a:xfrm>
          <a:prstGeom prst="rect">
            <a:avLst>
              <a:gd name="adj" fmla="val 2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3383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30352" y="373075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El sello CAPECO + dato censal 100% es la única moat real. Los portales tienen datos de oferta publicada, no de absorción ni precios de cierre. Eso no se replica.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315968"/>
            <a:ext cx="11521440" cy="914400"/>
          </a:xfrm>
          <a:prstGeom prst="rect">
            <a:avLst/>
          </a:prstGeom>
          <a:solidFill>
            <a:srgbClr val="0A1E3D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315968"/>
            <a:ext cx="54864" cy="914400"/>
          </a:xfrm>
          <a:prstGeom prst="rect">
            <a:avLst/>
          </a:prstGeom>
          <a:solidFill>
            <a:srgbClr val="26B7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 actuales no renuevan con nuevos precios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212080" y="4425696"/>
            <a:ext cx="1188720" cy="228600"/>
          </a:xfrm>
          <a:prstGeom prst="rect">
            <a:avLst>
              <a:gd name="adj" fmla="val 20000"/>
            </a:avLst>
          </a:prstGeom>
          <a:solidFill>
            <a:srgbClr val="26B7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44256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BAJO-MEDIO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30352" y="477316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Presentar el nuevo paquete como expansión de valor, no como aumento de precio. Ofrecer precio fijo por 2 años a sponsors que renuevan antes del Q2 2025.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5358384"/>
            <a:ext cx="11521440" cy="914400"/>
          </a:xfrm>
          <a:prstGeom prst="rect">
            <a:avLst/>
          </a:prstGeom>
          <a:solidFill>
            <a:srgbClr val="0A1E3D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5358384"/>
            <a:ext cx="54864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543153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desarrollo supera proyección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212080" y="5468112"/>
            <a:ext cx="1188720" cy="228600"/>
          </a:xfrm>
          <a:prstGeom prst="rect">
            <a:avLst>
              <a:gd name="adj" fmla="val 2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54681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30352" y="581558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Empezar con productos de bajo costo técnico (Índice = editorial, Alertas = automatización, DDR = semimanual). La API y Enterprise se construyen con los ingresos de los primeros 3.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6656832"/>
            <a:ext cx="4050792" cy="201168"/>
          </a:xfrm>
          <a:prstGeom prst="rect">
            <a:avLst/>
          </a:prstGeom>
          <a:solidFill>
            <a:srgbClr val="0058A7"/>
          </a:solidFill>
          <a:ln w="12700">
            <a:solidFill>
              <a:srgbClr val="0058A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50792" y="6656832"/>
            <a:ext cx="4059936" cy="201168"/>
          </a:xfrm>
          <a:prstGeom prst="rect">
            <a:avLst/>
          </a:prstGeom>
          <a:solidFill>
            <a:srgbClr val="26B7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10728" y="6656832"/>
            <a:ext cx="4050792" cy="201168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247120" y="6400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0E29"/>
          </a:solidFill>
          <a:ln w="12700">
            <a:solidFill>
              <a:srgbClr val="000E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914400"/>
            <a:ext cx="5029200" cy="5029200"/>
          </a:xfrm>
          <a:prstGeom prst="ellipse">
            <a:avLst/>
          </a:prstGeom>
          <a:solidFill>
            <a:srgbClr val="041C3A"/>
          </a:solidFill>
          <a:ln w="12700">
            <a:solidFill>
              <a:srgbClr val="041C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3200400"/>
            <a:ext cx="3657600" cy="3657600"/>
          </a:xfrm>
          <a:prstGeom prst="ellipse">
            <a:avLst/>
          </a:prstGeom>
          <a:solidFill>
            <a:srgbClr val="031528"/>
          </a:solidFill>
          <a:ln w="12700">
            <a:solidFill>
              <a:srgbClr val="0315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686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INMOBILIARIO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LIMA NECESITA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ESTÁNDAR DE DATOS.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914400" cy="64008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8328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i="1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tiene los activos para serlo.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i="1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es monetizarlos con inteligencia.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4343400"/>
            <a:ext cx="292608" cy="292608"/>
          </a:xfrm>
          <a:prstGeom prst="ellipse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E29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43434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 CAPECO el Índice PME y metodología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18120" y="4389120"/>
            <a:ext cx="1280160" cy="219456"/>
          </a:xfrm>
          <a:prstGeom prst="rect">
            <a:avLst/>
          </a:prstGeom>
          <a:solidFill>
            <a:srgbClr val="0A1E3D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43891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E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4892040"/>
            <a:ext cx="292608" cy="292608"/>
          </a:xfrm>
          <a:prstGeom prst="ellipse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92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E29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técnico: arquitectura de alertas + pme.pe público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18120" y="4937760"/>
            <a:ext cx="1280160" cy="219456"/>
          </a:xfrm>
          <a:prstGeom prst="rect">
            <a:avLst/>
          </a:prstGeom>
          <a:solidFill>
            <a:srgbClr val="0A1E3D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49377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E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1–2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5440680"/>
            <a:ext cx="292608" cy="292608"/>
          </a:xfrm>
          <a:prstGeom prst="ellipse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440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E29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54406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con 9 sponsors actuales para presentar nuevos paquetes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18120" y="5486400"/>
            <a:ext cx="1280160" cy="219456"/>
          </a:xfrm>
          <a:prstGeom prst="rect">
            <a:avLst/>
          </a:prstGeom>
          <a:solidFill>
            <a:srgbClr val="0A1E3D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8120" y="54864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E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2–3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5989320"/>
            <a:ext cx="292608" cy="292608"/>
          </a:xfrm>
          <a:prstGeom prst="ellipse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989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E29"/>
                </a:solidFill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598932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DDR piloto con cliente existente (validar proceso y precio)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18120" y="6035040"/>
            <a:ext cx="1280160" cy="219456"/>
          </a:xfrm>
          <a:prstGeom prst="rect">
            <a:avLst/>
          </a:prstGeom>
          <a:solidFill>
            <a:srgbClr val="0A1E3D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8120" y="60350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E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326880" y="1828800"/>
            <a:ext cx="2560320" cy="2926080"/>
          </a:xfrm>
          <a:prstGeom prst="rect">
            <a:avLst/>
          </a:prstGeom>
          <a:solidFill>
            <a:srgbClr val="0A1E3D"/>
          </a:solidFill>
          <a:ln w="12700">
            <a:solidFill>
              <a:srgbClr val="2EE0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464040" y="19385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mis.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9464040" y="2542032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Vera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Co-Founder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cvera@mis.pe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www.pme.pe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464040" y="4133088"/>
            <a:ext cx="2286000" cy="329184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64040" y="41330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tu reunión 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656832"/>
            <a:ext cx="4050792" cy="201168"/>
          </a:xfrm>
          <a:prstGeom prst="rect">
            <a:avLst/>
          </a:prstGeom>
          <a:solidFill>
            <a:srgbClr val="0058A7"/>
          </a:solidFill>
          <a:ln w="12700">
            <a:solidFill>
              <a:srgbClr val="0058A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50792" y="6656832"/>
            <a:ext cx="4059936" cy="201168"/>
          </a:xfrm>
          <a:prstGeom prst="rect">
            <a:avLst/>
          </a:prstGeom>
          <a:solidFill>
            <a:srgbClr val="26B7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10728" y="6656832"/>
            <a:ext cx="4050792" cy="201168"/>
          </a:xfrm>
          <a:prstGeom prst="rect">
            <a:avLst/>
          </a:prstGeom>
          <a:solidFill>
            <a:srgbClr val="2EE0A2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247120" y="6400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PME — Expansión Comercial 2025</dc:title>
  <dc:subject>PptxGenJS Presentation</dc:subject>
  <dc:creator>Millennial Intelligence Solutions</dc:creator>
  <cp:lastModifiedBy>Millennial Intelligence Solutions</cp:lastModifiedBy>
  <cp:revision>1</cp:revision>
  <dcterms:created xsi:type="dcterms:W3CDTF">2026-03-07T05:59:52Z</dcterms:created>
  <dcterms:modified xsi:type="dcterms:W3CDTF">2026-03-07T05:59:52Z</dcterms:modified>
</cp:coreProperties>
</file>