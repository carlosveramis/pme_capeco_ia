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508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508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508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508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508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508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PME ACADÉMICO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4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D8D2"/>
                </a:solidFill>
              </a:rPr>
              <a:t>Dato censal CAPECO · Para universidades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PME ACADÉMICO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365760" y="22128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CEEEC"/>
                </a:solidFill>
              </a:rPr>
              <a:t>Formando líderes con el dato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5760" y="272491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5EEAD4"/>
                </a:solidFill>
              </a:rPr>
              <a:t>real del mercado inmobiliario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65760" y="34564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6A68"/>
                </a:solidFill>
              </a:rPr>
              <a:t>Para Facultades de Arquitectura · Ingeniería Civil · Gestión Inmobiliaria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4A48"/>
                </a:solidFill>
              </a:rPr>
              <a:t>Confidencial · Millennial Information Systems · CAPECO · 2049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PME ACADÉMICO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2/10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EL RETO DE LA TESIS INMOBILIARIA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0"/>
                </a:solidFill>
              </a:rPr>
              <a:t>La pregunta que paraliza a todo tesista: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82296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" y="171907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</a:rPr>
              <a:t>"¿De dónde viene este número?"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— El asesor de tesis, Semana 14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8912" y="30540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" y="3438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Portal de avisos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73075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Precio de lista, no de cierre. Sobrevalúa hasta 15%.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2926080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410712" y="30540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83280" y="3438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Estudios del 2019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73075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Desactualizados. El jurado lo detecta de inmediato.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2926080"/>
            <a:ext cx="2834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82512" y="30540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3438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Datos INEI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373075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Sin el nivel de detalle que necesita un proyecto inmobiliario.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PME CAPECO · academia@mis.pe · pme.pe/academico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3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3/10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EEAD4"/>
                </a:solidFill>
              </a:rPr>
              <a:t>LA SOLUCIÓN ACADÉMICA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PME CAPECO: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EEEC"/>
                </a:solidFill>
              </a:rPr>
              <a:t>el único dato censal del mercado inmobiliario del Perú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576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2523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100% censal — no muestral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5237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D8D2"/>
                </a:solidFill>
              </a:rPr>
              <a:t>Cada proyecto activo en Lima Metropolitana. No una estimación.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3026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49 distritos · Serie histórica 2017–2025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0" y="3026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D8D2"/>
                </a:solidFill>
              </a:rPr>
              <a:t>Precio m², absorción, stock, tipología y tendencia trimestral.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6576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529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Sello institucional CAPECO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0" y="3529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D8D2"/>
                </a:solidFill>
              </a:rPr>
              <a:t>63 años de trayectoria. La fuente que el jurado acepta sin cuestionamientos.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65760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4032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Exportable en PDF y Excel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0" y="40325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D8D2"/>
                </a:solidFill>
              </a:rPr>
              <a:t>Listo para adjuntar en el informe de tesis o el paper académico.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20202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5050"/>
                </a:solidFill>
              </a:rPr>
              <a:t>academia@mis.pe · +51 965 113 510 · pme.pe/academico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4/10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DATOS DISPONIBLES PARA TU TESIS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0"/>
                </a:solidFill>
              </a:rPr>
              <a:t>Todo lo que necesitas para el análisis de mercado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2084832" cy="1298448"/>
          </a:xfrm>
          <a:prstGeom prst="rect">
            <a:avLst/>
          </a:prstGeom>
          <a:solidFill>
            <a:srgbClr val="0F2340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11480" y="18928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Precio m² cierre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D8D2"/>
                </a:solidFill>
              </a:rPr>
              <a:t>El real — no el de anuncio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87168" y="1783080"/>
            <a:ext cx="208483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24328" y="18928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24328" y="237744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</a:rPr>
              <a:t>Precio m² oferta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24328" y="269748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Para comparativas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0016" y="1783080"/>
            <a:ext cx="2084832" cy="1298448"/>
          </a:xfrm>
          <a:prstGeom prst="rect">
            <a:avLst/>
          </a:prstGeom>
          <a:solidFill>
            <a:srgbClr val="0F2340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37176" y="18928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37176" y="237744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Absorción (meses)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37176" y="269748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D8D2"/>
                </a:solidFill>
              </a:rPr>
              <a:t>Velocidad de venta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12864" y="1783080"/>
            <a:ext cx="208483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050024" y="18928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50024" y="237744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</a:rPr>
              <a:t>Stock disponible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50024" y="269748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Unidades activas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200400"/>
            <a:ext cx="208483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11480" y="33101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11480" y="37947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</a:rPr>
              <a:t>Tipología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1480" y="411480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1D · 2D · 3D+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87168" y="3200400"/>
            <a:ext cx="208483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624328" y="33101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624328" y="37947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</a:rPr>
              <a:t>49 distritos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624328" y="411480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Lima Metropolitana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0016" y="3200400"/>
            <a:ext cx="208483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837176" y="33101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837176" y="37947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</a:rPr>
              <a:t>Serie 2017–2025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37176" y="411480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Histórico completo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12864" y="3200400"/>
            <a:ext cx="208483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050024" y="33101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050024" y="37947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</a:rPr>
              <a:t>Tendencia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050024" y="411480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Análisis de ciclo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PME CAPECO · academia@mis.pe · pme.pe/academico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5/10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5F59"/>
                </a:solidFill>
              </a:rPr>
              <a:t>EJEMPLO REAL · LIMA MODERNA Q4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65F59"/>
                </a:solidFill>
              </a:rPr>
              <a:t>S/ 6,850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703320" y="1051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</a:rPr>
              <a:t>/m²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F59"/>
                </a:solidFill>
              </a:rPr>
              <a:t>Precio promedio cierre · Proyectos 2D · Lima Moderna Q4 2025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24912"/>
            <a:ext cx="28346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EEE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281635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F59"/>
                </a:solidFill>
              </a:rPr>
              <a:t>37% Q3 2025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65760" y="3364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Absorción promedio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2724912"/>
            <a:ext cx="28346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EEE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37560" y="281635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F59"/>
                </a:solidFill>
              </a:rPr>
              <a:t>1,840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37560" y="3364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Unidades activas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724912"/>
            <a:ext cx="28346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EEE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09360" y="281635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F59"/>
                </a:solidFill>
              </a:rPr>
              <a:t>+ 7.8%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09360" y="3364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Variación interanual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13632"/>
            <a:ext cx="8412480" cy="731520"/>
          </a:xfrm>
          <a:prstGeom prst="rect">
            <a:avLst/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391363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EEEC"/>
                </a:solidFill>
              </a:rPr>
              <a:t>"Antes contratar este estudio costaba USD 3,000 y tardaba 2 meses. PME lo resuelve en una mañana."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PME CAPECO · academia@mis.pe · pme.pe/academico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3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6/10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EEAD4"/>
                </a:solidFill>
              </a:rPr>
              <a:t>MODELOS DE CONVENIO 2049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Elige el modelo para tu facultad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834640" cy="2834640"/>
          </a:xfrm>
          <a:prstGeom prst="rect">
            <a:avLst/>
          </a:prstGeom>
          <a:solidFill>
            <a:srgbClr val="0A2030"/>
          </a:solidFill>
          <a:ln w="6350">
            <a:solidFill>
              <a:srgbClr val="20202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8912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05050"/>
                </a:solidFill>
              </a:rPr>
              <a:t>RED CAMPUS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2402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USD 4,800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8912" y="2807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050"/>
                </a:solidFill>
              </a:rPr>
              <a:t>/año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" y="3017520"/>
            <a:ext cx="246888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8912" y="310896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</a:rPr>
              <a:t>Toda la comunidad académica vía .edu.pe · Logo CAPECO en comunicaciones · Talleres anuales para docentes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828800"/>
            <a:ext cx="2834640" cy="2834640"/>
          </a:xfrm>
          <a:prstGeom prst="rect">
            <a:avLst/>
          </a:prstGeom>
          <a:solidFill>
            <a:srgbClr val="0D4A44"/>
          </a:solidFill>
          <a:ln w="190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46120" y="1828800"/>
            <a:ext cx="2834640" cy="411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410712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EEAD4"/>
                </a:solidFill>
              </a:rPr>
              <a:t>LICENCIA FACULTAD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10712" y="22402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USD 2,400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410712" y="2807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050"/>
                </a:solidFill>
              </a:rPr>
              <a:t>/año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10712" y="3017520"/>
            <a:ext cx="246888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10712" y="310896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</a:rPr>
              <a:t>Facultad específica · Hasta 200 usuarios · Materiales didácticos · Histórico 2017–2025 completo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1828800"/>
            <a:ext cx="2834640" cy="2834640"/>
          </a:xfrm>
          <a:prstGeom prst="rect">
            <a:avLst/>
          </a:prstGeom>
          <a:solidFill>
            <a:srgbClr val="0A2030"/>
          </a:solidFill>
          <a:ln w="6350">
            <a:solidFill>
              <a:srgbClr val="20202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82512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05050"/>
                </a:solidFill>
              </a:rPr>
              <a:t>INVESTIGACIÓN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82512" y="22402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USD 960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382512" y="2807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050"/>
                </a:solidFill>
              </a:rPr>
              <a:t>/año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82512" y="3017520"/>
            <a:ext cx="2468880" cy="0"/>
          </a:xfrm>
          <a:prstGeom prst="line">
            <a:avLst/>
          </a:prstGeom>
          <a:noFill/>
          <a:ln w="6350">
            <a:solidFill>
              <a:srgbClr val="25252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82512" y="310896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</a:rPr>
              <a:t>Hasta 10 investigadores o tesistas · Acceso total a base histórica · Publicaciones académicas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473659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Oferta: primer semestre gratuito mientras el convenio se formaliza administrativamente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20202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5050"/>
                </a:solidFill>
              </a:rPr>
              <a:t>academia@mis.pe · +51 965 113 510 · pme.pe/academico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7/10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CASOS DE USO EN CLASE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0"/>
                </a:solidFill>
              </a:rPr>
              <a:t>Cómo docentes usan PME hoy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8346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8912" y="19568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340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Formulación de Proyectos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Análisis de absorción real y precio por corredor antes de definir el programa arquitectónico del proyecto de tesis.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28346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10712" y="19568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340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Urbanismo y Planificación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26334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Mapas de densidad, expansión vertical y tendencias de ocupación en Lima Metropolitana 2017–2025.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8346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82512" y="19568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2340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Gestión Inmobiliaria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6334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Evaluación de inversiones con precio de cierre real vs precio de lista. Diferencia de hasta 15%.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18688"/>
            <a:ext cx="28346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38912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148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Ingeniería Económica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0233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Proyecciones de demanda y flujos financieros con datos de absorción y stock censal del sector.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3218688"/>
            <a:ext cx="28346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410712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38328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Valuación de Inmuebles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40233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Precio m² de cierre por tipología y corredor como base para ejercicios de valuación profesional.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3218688"/>
            <a:ext cx="28346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82512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355080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</a:rPr>
              <a:t>Investigación y Papers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40233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Serie histórica completa para análisis de ciclos inmobiliarios y generación de publicaciones académicas.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PME CAPECO · academia@mis.pe · pme.pe/academico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3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8/10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EEAD4"/>
                </a:solidFill>
              </a:rPr>
              <a:t>PROCESO · CÓMO EMPEZAR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 la solicitud al aula — en una semana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1892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340"/>
                </a:solidFill>
              </a:rPr>
              <a:t>Solicitud a academia@mis.pe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87552" y="2167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Datos de la facultad: universidad, carrera, n° alumnos y nombre del director responsable.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2596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340"/>
                </a:solidFill>
              </a:rPr>
              <a:t>Charla demo gratuita (30 min)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87552" y="28712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Caso real de tesis en vivo. Acceso temporal para los alumnos durante 2 semanas sin compromiso.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8269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576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33009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340"/>
                </a:solidFill>
              </a:rPr>
              <a:t>Firma del convenio marco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87552" y="35753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El proceso administrativo sigue los tiempos de la universidad. Sin urgencias de nuestra parte.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986784"/>
            <a:ext cx="502920" cy="502920"/>
          </a:xfrm>
          <a:prstGeom prst="ellipse">
            <a:avLst/>
          </a:prstGeom>
          <a:solidFill>
            <a:srgbClr val="E8500D"/>
          </a:solidFill>
          <a:ln w="12700">
            <a:solidFill>
              <a:srgbClr val="E8500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576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Accesos activos en 48 horas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87552" y="4279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8080"/>
                </a:solidFill>
              </a:rPr>
              <a:t>Credenciales configuradas. Onboarding para docentes + guía inicio para estudiantes.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20202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5050"/>
                </a:solidFill>
              </a:rPr>
              <a:t>academia@mis.pe · +51 965 113 510 · pme.pe/academico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9/10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UNIVERSIDADES ACTIVAS Y EN PROCESO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340"/>
                </a:solidFill>
              </a:rPr>
              <a:t>El ecosistema académico PME crece trimestre a trimestre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2871216" cy="1207008"/>
          </a:xfrm>
          <a:prstGeom prst="rect">
            <a:avLst/>
          </a:prstGeom>
          <a:solidFill>
            <a:srgbClr val="0F2340"/>
          </a:solidFill>
          <a:ln w="190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8912" y="1865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ULIMA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8912" y="22128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D8D2"/>
                </a:solidFill>
              </a:rPr>
              <a:t>Universidad de Lima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" y="2468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Activo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74520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D8D2"/>
                </a:solidFill>
              </a:rPr>
              <a:t>Red Campus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1755648"/>
            <a:ext cx="287121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438144" y="1865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340"/>
                </a:solidFill>
              </a:rPr>
              <a:t>PUCP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38144" y="22128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Pontificia Universidad Católica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38144" y="2468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En proceso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73752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Licencia Facultad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72784" y="1755648"/>
            <a:ext cx="287121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37376" y="1865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340"/>
                </a:solidFill>
              </a:rPr>
              <a:t>UPC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37376" y="22128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Universidad Peruana de Ciencias Aplicadas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37376" y="2468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En proceso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872984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Licencia Facultad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081528"/>
            <a:ext cx="287121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38912" y="31912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340"/>
                </a:solidFill>
              </a:rPr>
              <a:t>USMP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8912" y="35387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Universidad San Martín de Porres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38912" y="3794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En proceso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74520" y="3794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Investigación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73552" y="3081528"/>
            <a:ext cx="287121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438144" y="31912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340"/>
                </a:solidFill>
              </a:rPr>
              <a:t>UPN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438144" y="35387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Universidad Privada del Norte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38144" y="3794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En proceso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73752" y="3794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Investigación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72784" y="3081528"/>
            <a:ext cx="2871216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37376" y="31912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340"/>
                </a:solidFill>
              </a:rPr>
              <a:t>UDEP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437376" y="35387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Universidad de Piura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37376" y="3794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Evaluando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72984" y="3794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—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PME CAPECO · academia@mis.pe · pme.pe/academico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3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164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PME ACADÉMICO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743200" y="2331720"/>
            <a:ext cx="365760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2468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EEAD4"/>
                </a:solidFill>
              </a:rPr>
              <a:t>Formando líderes con el dato real del mercado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6A68"/>
                </a:solidFill>
              </a:rPr>
              <a:t>🌐  pme.pe/academico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604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6A68"/>
                </a:solidFill>
              </a:rPr>
              <a:t>✉  academia@mis.pe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6A68"/>
                </a:solidFill>
              </a:rPr>
              <a:t>📞  +51 965 113 510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0372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6A68"/>
                </a:solidFill>
              </a:rPr>
              <a:t>🏛  CAPECO · 63 años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0" y="3767328"/>
            <a:ext cx="4572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286000" y="37673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Agenda la demo gratuita para tu facultad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4A48"/>
                </a:solidFill>
              </a:rPr>
              <a:t>Millennial Information Systems · En alianza con CAPECO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PME Académico 2026</dc:title>
  <dc:subject>PptxGenJS Presentation</dc:subject>
  <dc:creator>PptxGenJS</dc:creator>
  <cp:lastModifiedBy>PptxGenJS</cp:lastModifiedBy>
  <cp:revision>1</cp:revision>
  <dcterms:created xsi:type="dcterms:W3CDTF">2026-03-27T06:54:16Z</dcterms:created>
  <dcterms:modified xsi:type="dcterms:W3CDTF">2026-03-27T06:54:16Z</dcterms:modified>
</cp:coreProperties>
</file>