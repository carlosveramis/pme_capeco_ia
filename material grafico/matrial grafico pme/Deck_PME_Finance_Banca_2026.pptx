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A7E435-D8B1-9648-9648-087EE928F03D}" v="1" dt="2026-03-30T22:57:45.0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6301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Vera" userId="efeade7e-9fcb-4c54-a77c-0350e42d7cbd" providerId="ADAL" clId="{89804CAA-6F1F-53A9-BF32-3BCE196C1030}"/>
    <pc:docChg chg="mod modSld">
      <pc:chgData name="Carlos Vera" userId="efeade7e-9fcb-4c54-a77c-0350e42d7cbd" providerId="ADAL" clId="{89804CAA-6F1F-53A9-BF32-3BCE196C1030}" dt="2026-03-30T22:57:47.204" v="1" actId="33475"/>
      <pc:docMkLst>
        <pc:docMk/>
      </pc:docMkLst>
      <pc:sldChg chg="addSp modSp">
        <pc:chgData name="Carlos Vera" userId="efeade7e-9fcb-4c54-a77c-0350e42d7cbd" providerId="ADAL" clId="{89804CAA-6F1F-53A9-BF32-3BCE196C1030}" dt="2026-03-30T22:57:45.071" v="0" actId="767"/>
        <pc:sldMkLst>
          <pc:docMk/>
          <pc:sldMk cId="0" sldId="267"/>
        </pc:sldMkLst>
        <pc:spChg chg="add mod">
          <ac:chgData name="Carlos Vera" userId="efeade7e-9fcb-4c54-a77c-0350e42d7cbd" providerId="ADAL" clId="{89804CAA-6F1F-53A9-BF32-3BCE196C1030}" dt="2026-03-30T22:57:45.071" v="0" actId="767"/>
          <ac:spMkLst>
            <pc:docMk/>
            <pc:sldMk cId="0" sldId="267"/>
            <ac:spMk id="26" creationId="{C779E06E-B412-E4A5-9328-CA61FD0E479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3962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2011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PME FINANCE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7490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Banca · Seguros · Fintechs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65760" y="118872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</a:rPr>
              <a:t>PME FINANCE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365760" y="22128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93C5FD"/>
                </a:solidFill>
              </a:rPr>
              <a:t>Inteligencia que mitiga el riesgo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65760" y="272491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</a:rPr>
              <a:t>y acelera el crédito inmobiliario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65760" y="34290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FFFFFF"/>
                </a:solidFill>
              </a:rPr>
              <a:t>Auditable SBS · Dato Censal Institucional · API + Power BI Embedded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Para uso exclusivo del equipo de Riesgo y Crédito · Confidencial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340"/>
                </a:solidFill>
              </a:rPr>
              <a:t>PME FINANCE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37490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Banca · Seguros · Fintechs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46720" y="182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 /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777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D6FE8"/>
                </a:solidFill>
              </a:rPr>
              <a:t>ÁREAS DE IMPACTO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0515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340"/>
                </a:solidFill>
              </a:rPr>
              <a:t>PME FINANCE actúa en tres frentes críticos de su institución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74320" y="1828800"/>
            <a:ext cx="2834640" cy="2560320"/>
          </a:xfrm>
          <a:prstGeom prst="rect">
            <a:avLst/>
          </a:prstGeom>
          <a:solidFill>
            <a:srgbClr val="0F2340"/>
          </a:solidFill>
          <a:ln w="6350">
            <a:solidFill>
              <a:srgbClr val="0F23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11480" y="19659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🏦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38912" y="25420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Crédito Hipotecario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" y="2944368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Calibración de LTV, validación de garantías y aprobación con dato censal. De días a horas.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1828800"/>
            <a:ext cx="28346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383280" y="19659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10712" y="25420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340"/>
                </a:solidFill>
              </a:rPr>
              <a:t>Banca Empresa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10712" y="2944368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Due diligence de proyectos a financiar. Absorción real vs proyección del desarrollador.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828800"/>
            <a:ext cx="28346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355080" y="19659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82512" y="25420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340"/>
                </a:solidFill>
              </a:rPr>
              <a:t>Fintech &amp; Seguros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82512" y="2944368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API de scoring automático, emisión de pólizas por zona y underwriting digital.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PME FINANCE · ventas@mis.pe · +51 965 113 510 · pme.pe/bancos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PME FINANCE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37490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Banca · Seguros · Fintechs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46720" y="182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3 /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777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D6FE8"/>
                </a:solidFill>
              </a:rPr>
              <a:t>CRÉDITO HIPOTECARIO · CALIBRACIÓN DE LTV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0515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Evita sobrevaloraciones del colateral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" y="16916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Los portales muestran precios de lista. PME CAPECO registra el precio real de cierre de transacción.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2402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Miraflores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08760" y="2240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Portal de avisos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66160" y="2295144"/>
            <a:ext cx="4114800" cy="301752"/>
          </a:xfrm>
          <a:prstGeom prst="rect">
            <a:avLst/>
          </a:prstGeom>
          <a:solidFill>
            <a:srgbClr val="B0BBC8"/>
          </a:solidFill>
          <a:ln w="12700">
            <a:solidFill>
              <a:srgbClr val="B0BB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589520" y="2240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S/ 11,200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7432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08760" y="2743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PME CAPECO (cierre)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566160" y="2798064"/>
            <a:ext cx="3621024" cy="301752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589520" y="27432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S/ 8,417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154680"/>
            <a:ext cx="841248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365760" y="32918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Surquillo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08760" y="3291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Portal de avisos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566160" y="3346704"/>
            <a:ext cx="3086100" cy="301752"/>
          </a:xfrm>
          <a:prstGeom prst="rect">
            <a:avLst/>
          </a:prstGeom>
          <a:solidFill>
            <a:srgbClr val="B0BBC8"/>
          </a:solidFill>
          <a:ln w="12700">
            <a:solidFill>
              <a:srgbClr val="B0BB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589520" y="3291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S/ 7,200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794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508760" y="3794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PME CAPECO (cierre)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566160" y="3849624"/>
            <a:ext cx="2921508" cy="301752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7589520" y="3794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S/ 6,557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206240"/>
            <a:ext cx="8412480" cy="502920"/>
          </a:xfrm>
          <a:prstGeom prst="rect">
            <a:avLst/>
          </a:prstGeom>
          <a:solidFill>
            <a:srgbClr val="E8500D">
              <a:alpha val="12000"/>
            </a:srgbClr>
          </a:solidFill>
          <a:ln w="6350">
            <a:solidFill>
              <a:srgbClr val="E8500D">
                <a:alpha val="3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365760" y="4206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</a:rPr>
              <a:t>Diferencia que puede cambiar la decisión de aprobación del crédito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PME FINANCE · ventas@mis.pe · +51 965 113 510 · pme.pe/bancos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340"/>
                </a:solidFill>
              </a:rPr>
              <a:t>PME FINANCE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37490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Banca · Seguros · Fintechs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46720" y="182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4 /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777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D6FE8"/>
                </a:solidFill>
              </a:rPr>
              <a:t>APROBACIÓN AUTOMÁTICA DE GARANTÍAS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0515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340"/>
                </a:solidFill>
              </a:rPr>
              <a:t>De 4–7 días a horas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228600" y="1920240"/>
            <a:ext cx="21031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65760" y="2057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340"/>
                </a:solidFill>
              </a:rPr>
              <a:t>Solicitud de hipoteca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0632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El cliente presenta expediente con inmueble de garantía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331720" y="27432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6FE8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450592" y="1920240"/>
            <a:ext cx="21031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2587752" y="2057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🔌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587752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340"/>
                </a:solidFill>
              </a:rPr>
              <a:t>PME API integrada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87752" y="30632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Sistema llama al endpoint precio m² con distrito y tipología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53712" y="27432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6FE8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72584" y="1920240"/>
            <a:ext cx="2103120" cy="2286000"/>
          </a:xfrm>
          <a:prstGeom prst="rect">
            <a:avLst/>
          </a:prstGeom>
          <a:solidFill>
            <a:srgbClr val="0F2340"/>
          </a:solidFill>
          <a:ln w="6350">
            <a:solidFill>
              <a:srgbClr val="0F23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809744" y="2057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809744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Validación automática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9744" y="30632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El precio PME vs monto del crédito calcula el LTV en tiempo real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775704" y="27432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6FE8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894576" y="1920240"/>
            <a:ext cx="21031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031736" y="2057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031736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340"/>
                </a:solidFill>
              </a:rPr>
              <a:t>Aprobación / alerta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31736" y="30632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Crédito aprobado automáticamente o flaggeado para revisión manual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PME FINANCE · ventas@mis.pe · +51 965 113 510 · pme.pe/bancos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PME FINANCE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37490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Banca · Seguros · Fintechs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46720" y="182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5 /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777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D6FE8"/>
                </a:solidFill>
              </a:rPr>
              <a:t>SUSTENTO ANTE AUDITORÍAS SBS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0515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La fuente que el regulador acepta sin cuestionamientos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65760" y="17373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CAPECO como ente institucional e imparcial con 63 años de trayectoria en el sector construcción del Perú.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4251960" cy="1143000"/>
          </a:xfrm>
          <a:prstGeom prst="rect">
            <a:avLst/>
          </a:prstGeom>
          <a:solidFill>
            <a:srgbClr val="0D1E3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02920" y="24414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🏛️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4414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Ente institucional reconocido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76148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CAPECO es la Cámara Peruana de la Construcción, con presencia oficial ante el Estado y el sector financiero desde 1961.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00600" y="2331720"/>
            <a:ext cx="4251960" cy="1143000"/>
          </a:xfrm>
          <a:prstGeom prst="rect">
            <a:avLst/>
          </a:prstGeom>
          <a:solidFill>
            <a:srgbClr val="0D1E3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937760" y="24414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40680" y="24414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Metodología auditada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40680" y="276148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Proceso censal documentado, con trazabilidad completa por proyecto, corredor y trimestre. Disponible para auditorías regulatorias.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593592"/>
            <a:ext cx="4251960" cy="1143000"/>
          </a:xfrm>
          <a:prstGeom prst="rect">
            <a:avLst/>
          </a:prstGeom>
          <a:solidFill>
            <a:srgbClr val="0D1E3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02920" y="37033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3703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Trazabilidad de datos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40233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Cada valor publicado tiene soporte metodológico y puede ser respaldado ante la Superintendencia, un directorio o un juzgado.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00600" y="3593592"/>
            <a:ext cx="4251960" cy="1143000"/>
          </a:xfrm>
          <a:prstGeom prst="rect">
            <a:avLst/>
          </a:prstGeom>
          <a:solidFill>
            <a:srgbClr val="0D1E3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4937760" y="37033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40680" y="3703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Sin conflicto de interés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40680" y="40233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A diferencia de portales de avisos, CAPECO no opera como intermediario inmobiliario. Dato puro sin incentivos comerciales.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PME FINANCE · ventas@mis.pe · +51 965 113 510 · pme.pe/bancos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340"/>
                </a:solidFill>
              </a:rPr>
              <a:t>PME FINANCE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37490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Banca · Seguros · Fintechs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46720" y="182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6 /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777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D6FE8"/>
                </a:solidFill>
              </a:rPr>
              <a:t>BANCA EMPRESA · FINANCIAMIENTO DE PROYECTOS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0515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340"/>
                </a:solidFill>
              </a:rPr>
              <a:t>Financia con visibilidad total del proyecto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16916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Antes de otorgar una línea de crédito constructor, analiza con PME si el proyecto tiene demanda real y absorción saludable.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377440"/>
            <a:ext cx="283464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38912" y="25054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1480" y="28803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340"/>
                </a:solidFill>
              </a:rPr>
              <a:t>Proyección de absorción real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145536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Verifica si las asunciones de ventas del desarrollador son realistas. ¿A qué ritmo se venden proyectos similares en esa manzana hoy?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46120" y="2377440"/>
            <a:ext cx="283464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410712" y="25054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🏗️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383280" y="28803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340"/>
                </a:solidFill>
              </a:rPr>
              <a:t>Viabilidad del pipeline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3145536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Evalúa nivel de competencia y saturación por tipología antes de comprometer el financiamiento corporativo.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17920" y="2377440"/>
            <a:ext cx="283464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382512" y="25054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55080" y="28803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340"/>
                </a:solidFill>
              </a:rPr>
              <a:t>Due Diligence inmediato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3145536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Transforma el proceso de auditoría de riesgo comercial de semanas a un dashboard autogestionado por tu comité de créditos.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PME FINANCE · ventas@mis.pe · +51 965 113 510 · pme.pe/bancos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PME FINANCE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37490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Banca · Seguros · Fintechs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46720" y="182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7 /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777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D6FE8"/>
                </a:solidFill>
              </a:rPr>
              <a:t>FINTECHS, PROPTECHS Y ASEGURADORAS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0515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 estructurada para ecosistemas y modelos digitales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4251960" cy="1325880"/>
          </a:xfrm>
          <a:prstGeom prst="rect">
            <a:avLst/>
          </a:prstGeom>
          <a:solidFill>
            <a:srgbClr val="1B3A5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30352" y="20025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💻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" y="23774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API Data Delivery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642616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REST endpoints o volcado S3 hacia tu data warehouse. Precio m², absorción y stock en tiempo real.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00600" y="1874520"/>
            <a:ext cx="4251960" cy="1325880"/>
          </a:xfrm>
          <a:prstGeom prst="rect">
            <a:avLst/>
          </a:prstGeom>
          <a:solidFill>
            <a:srgbClr val="1B3A5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965192" y="20025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37760" y="23774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Aseguradoras de riesgo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642616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Modelado de primas basado en demografía, precio m² y nivel constructivo de las edificaciones zonales.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337560"/>
            <a:ext cx="4251960" cy="1325880"/>
          </a:xfrm>
          <a:prstGeom prst="rect">
            <a:avLst/>
          </a:prstGeom>
          <a:solidFill>
            <a:srgbClr val="1B3A5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30352" y="34655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2920" y="384048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Hipotecas digitales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105656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Aprobación instant approval respaldando el colateral algorítmicamente contra la base histórica PME.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00600" y="3337560"/>
            <a:ext cx="4251960" cy="1325880"/>
          </a:xfrm>
          <a:prstGeom prst="rect">
            <a:avLst/>
          </a:prstGeom>
          <a:solidFill>
            <a:srgbClr val="1B3A5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965192" y="34655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937760" y="384048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Fondos de inversión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4105656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Scoring de portafolios de bienes raíces para FIBRAs y FIRBIs. Data censal como sustento ante inversionistas.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PME FINANCE · ventas@mis.pe · +51 965 113 510 · pme.pe/bancos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340"/>
                </a:solidFill>
              </a:rPr>
              <a:t>PME FINANCE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37490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Banca · Seguros · Fintechs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46720" y="182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8 /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777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D6FE8"/>
                </a:solidFill>
              </a:rPr>
              <a:t>ROI CUANTIFICADO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0515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340"/>
                </a:solidFill>
              </a:rPr>
              <a:t>El costo de no usar PME vs el costo de la suscripción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74320" y="1737360"/>
            <a:ext cx="4114800" cy="2743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74320" y="17373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75569"/>
                </a:solidFill>
              </a:rPr>
              <a:t>SIN PME · Tasación tradicional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15798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Tasador externo por hipoteca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08960" y="215798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93B"/>
                </a:solidFill>
              </a:rPr>
              <a:t>USD 150–300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5603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Días de espera por tasación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08960" y="256032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93B"/>
                </a:solidFill>
              </a:rPr>
              <a:t>4–7 días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9626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Analistas hipotecas/mes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08960" y="296265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93B"/>
                </a:solidFill>
              </a:rPr>
              <a:t>~120 ops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33649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Costo anual de tasaciones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108960" y="336499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93B"/>
                </a:solidFill>
              </a:rPr>
              <a:t>USD 36,000+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37673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Desacuerdos de tasación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108960" y="376732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93B"/>
                </a:solidFill>
              </a:rPr>
              <a:t>Sin control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43400" y="28346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</a:rPr>
              <a:t>VS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54880" y="1737360"/>
            <a:ext cx="4114800" cy="2743200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4754880" y="17373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 PME · Suscripción Enterprise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215798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Suscripción PME Enterprise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52360" y="215798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97316"/>
                </a:solidFill>
              </a:rPr>
              <a:t>USD 18,000/año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2560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Tiempo de aprobación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52360" y="25603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97316"/>
                </a:solidFill>
              </a:rPr>
              <a:t>Horas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296265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Hipotecas cubiertas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52360" y="296265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97316"/>
                </a:solidFill>
              </a:rPr>
              <a:t>Ilimitadas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33649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Reducción de desacuerdos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52360" y="33649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97316"/>
                </a:solidFill>
              </a:rPr>
              <a:t>−40%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37673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Sustento SBS incluido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52360" y="37673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97316"/>
                </a:solidFill>
              </a:rPr>
              <a:t>Sí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PME FINANCE · ventas@mis.pe · +51 965 113 510 · pme.pe/bancos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PME FINANCE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37490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Banca · Seguros · Fintechs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46720" y="182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9 /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777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D6FE8"/>
                </a:solidFill>
              </a:rPr>
              <a:t>PLANES CORPORATIVOS PME FINANCE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0515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Tres niveles de acceso para el sector financiero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74320" y="1719072"/>
            <a:ext cx="2834640" cy="3017520"/>
          </a:xfrm>
          <a:prstGeom prst="rect">
            <a:avLst/>
          </a:prstGeom>
          <a:solidFill>
            <a:srgbClr val="0A162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38912" y="186537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94A3B8"/>
                </a:solidFill>
              </a:rPr>
              <a:t>ANALÍTICO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8912" y="21214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USD 4,800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38912" y="26609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/año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8912" y="2889504"/>
            <a:ext cx="2487168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38912" y="2980944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✓  </a:t>
            </a:r>
            <a:r>
              <a:rPr lang="en-US" sz="950" dirty="0">
                <a:solidFill>
                  <a:srgbClr val="FFFFFF"/>
                </a:solidFill>
              </a:rPr>
              <a:t>Hasta 5 usuarios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" y="3364992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✓  </a:t>
            </a:r>
            <a:r>
              <a:rPr lang="en-US" sz="950" dirty="0">
                <a:solidFill>
                  <a:srgbClr val="FFFFFF"/>
                </a:solidFill>
              </a:rPr>
              <a:t>REST read-only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3749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✓  </a:t>
            </a:r>
            <a:r>
              <a:rPr lang="en-US" sz="950" dirty="0">
                <a:solidFill>
                  <a:srgbClr val="FFFFFF"/>
                </a:solidFill>
              </a:rPr>
              <a:t>Soporte estándar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8912" y="4133088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✓  </a:t>
            </a:r>
            <a:r>
              <a:rPr lang="en-US" sz="950" dirty="0">
                <a:solidFill>
                  <a:srgbClr val="FFFFFF"/>
                </a:solidFill>
              </a:rPr>
              <a:t>Ideal para equipos pequeños de análisis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46120" y="1719072"/>
            <a:ext cx="2834640" cy="3017520"/>
          </a:xfrm>
          <a:prstGeom prst="rect">
            <a:avLst/>
          </a:prstGeom>
          <a:solidFill>
            <a:srgbClr val="0A162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3410712" y="186537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94A3B8"/>
                </a:solidFill>
              </a:rPr>
              <a:t>CORPORATIVO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10712" y="21214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USD 9,600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3410712" y="26609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/año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10712" y="2889504"/>
            <a:ext cx="2487168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3410712" y="2980944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✓  </a:t>
            </a:r>
            <a:r>
              <a:rPr lang="en-US" sz="950" dirty="0">
                <a:solidFill>
                  <a:srgbClr val="FFFFFF"/>
                </a:solidFill>
              </a:rPr>
              <a:t>Hasta 20 usuarios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10712" y="3364992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✓  </a:t>
            </a:r>
            <a:r>
              <a:rPr lang="en-US" sz="950" dirty="0">
                <a:solidFill>
                  <a:srgbClr val="FFFFFF"/>
                </a:solidFill>
              </a:rPr>
              <a:t>REST + webhooks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10712" y="3749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✓  </a:t>
            </a:r>
            <a:r>
              <a:rPr lang="en-US" sz="950" dirty="0">
                <a:solidFill>
                  <a:srgbClr val="FFFFFF"/>
                </a:solidFill>
              </a:rPr>
              <a:t>Soporte prioritario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410712" y="4133088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✓  </a:t>
            </a:r>
            <a:r>
              <a:rPr lang="en-US" sz="950" dirty="0">
                <a:solidFill>
                  <a:srgbClr val="FFFFFF"/>
                </a:solidFill>
              </a:rPr>
              <a:t>Para áreas de crédito y riesgo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17920" y="1719072"/>
            <a:ext cx="2834640" cy="3017520"/>
          </a:xfrm>
          <a:prstGeom prst="rect">
            <a:avLst/>
          </a:prstGeom>
          <a:solidFill>
            <a:srgbClr val="0D1E30"/>
          </a:solidFill>
          <a:ln w="19050">
            <a:solidFill>
              <a:srgbClr val="1D6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6217920" y="1719072"/>
            <a:ext cx="2834640" cy="41148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382512" y="186537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93C5FD"/>
                </a:solidFill>
              </a:rPr>
              <a:t>ENTERPRISE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82512" y="21214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USD 18,000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6382512" y="26609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/año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382512" y="2889504"/>
            <a:ext cx="2487168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382512" y="2980944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3C5FD"/>
                </a:solidFill>
              </a:rPr>
              <a:t>✓  </a:t>
            </a:r>
            <a:r>
              <a:rPr lang="en-US" sz="950" dirty="0">
                <a:solidFill>
                  <a:srgbClr val="FFFFFF"/>
                </a:solidFill>
              </a:rPr>
              <a:t>Usuarios ilimitados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82512" y="3364992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3C5FD"/>
                </a:solidFill>
              </a:rPr>
              <a:t>✓  </a:t>
            </a:r>
            <a:r>
              <a:rPr lang="en-US" sz="950" dirty="0">
                <a:solidFill>
                  <a:srgbClr val="FFFFFF"/>
                </a:solidFill>
              </a:rPr>
              <a:t>REST + S3 + Power BI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82512" y="3749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3C5FD"/>
                </a:solidFill>
              </a:rPr>
              <a:t>✓  </a:t>
            </a:r>
            <a:r>
              <a:rPr lang="en-US" sz="950" dirty="0">
                <a:solidFill>
                  <a:srgbClr val="FFFFFF"/>
                </a:solidFill>
              </a:rPr>
              <a:t>Soporte dedicado + SLA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382512" y="4133088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3C5FD"/>
                </a:solidFill>
              </a:rPr>
              <a:t>✓  </a:t>
            </a:r>
            <a:r>
              <a:rPr lang="en-US" sz="950" dirty="0">
                <a:solidFill>
                  <a:srgbClr val="FFFFFF"/>
                </a:solidFill>
              </a:rPr>
              <a:t>Para entidades bancarias reguladas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PME FINANCE · ventas@mis.pe · +51 965 113 510 · pme.pe/bancos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340"/>
                </a:solidFill>
              </a:rPr>
              <a:t>PME FINANCE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37490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Banca · Seguros · Fintechs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46720" y="182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10 /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777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D6FE8"/>
                </a:solidFill>
              </a:rPr>
              <a:t>POC PROPUESTO · PROOF OF CONCEPT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0515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340"/>
                </a:solidFill>
              </a:rPr>
              <a:t>30 días de acceso gratuito — sin compromisos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" y="16916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Para su área de Riesgo Hipotecario o Crédito Empresarial. Medimos juntos el impacto real antes de firmar.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331720"/>
            <a:ext cx="2084832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228600" y="2331720"/>
            <a:ext cx="2084832" cy="41148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20040" y="2395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6FE8"/>
                </a:solidFill>
              </a:rPr>
              <a:t>Semana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" y="2697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340"/>
                </a:solidFill>
              </a:rPr>
              <a:t>Integración y configuración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3145536"/>
            <a:ext cx="1920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Acceso al subconjunto de datos. Configuración de usuarios del equipo de riesgo. Sin instalación en sus sistemas.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41448" y="2331720"/>
            <a:ext cx="2084832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2441448" y="2331720"/>
            <a:ext cx="2084832" cy="41148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2532888" y="2395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6FE8"/>
                </a:solidFill>
              </a:rPr>
              <a:t>Semana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32888" y="2697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340"/>
                </a:solidFill>
              </a:rPr>
              <a:t>Uso en casos reales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32888" y="3145536"/>
            <a:ext cx="1920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El equipo aplica PME a hipotecas o proyectos reales en evaluación. Comparativa vs proceso actual.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54296" y="2331720"/>
            <a:ext cx="2084832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4654296" y="2331720"/>
            <a:ext cx="2084832" cy="41148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745736" y="2395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6FE8"/>
                </a:solidFill>
              </a:rPr>
              <a:t>Semana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45736" y="2697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340"/>
                </a:solidFill>
              </a:rPr>
              <a:t>Medición de impacto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45736" y="3145536"/>
            <a:ext cx="1920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Cuantificamos: tiempo ahorrado, desacuerdos reducidos, LTV ajustados. Presentación al directorio.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67144" y="2331720"/>
            <a:ext cx="2084832" cy="2194560"/>
          </a:xfrm>
          <a:prstGeom prst="rect">
            <a:avLst/>
          </a:prstGeom>
          <a:solidFill>
            <a:srgbClr val="0F2340"/>
          </a:solidFill>
          <a:ln w="6350">
            <a:solidFill>
              <a:srgbClr val="0F23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6867144" y="2331720"/>
            <a:ext cx="2084832" cy="41148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958584" y="2395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C5FD"/>
                </a:solidFill>
              </a:rPr>
              <a:t>Semana 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58584" y="2697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Propuesta formal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58584" y="3145536"/>
            <a:ext cx="1920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Con los resultados del PoC, presentamos propuesta de contrato con SLA, NDA y soporte dedicado.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PME FINANCE · ventas@mis.pe · +51 965 113 510 · pme.pe/bancos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PME FINANCE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37490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Banca · Seguros · Fintechs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46720" y="182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11 /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777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D6FE8"/>
                </a:solidFill>
              </a:rPr>
              <a:t>RESULTADO EN ENTIDAD SUSCRIPTORA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FFFFF"/>
                </a:solidFill>
              </a:rPr>
              <a:t>40%</a:t>
            </a:r>
            <a:endParaRPr lang="en-US" sz="8800" dirty="0"/>
          </a:p>
        </p:txBody>
      </p:sp>
      <p:sp>
        <p:nvSpPr>
          <p:cNvPr id="10" name="Text 8"/>
          <p:cNvSpPr/>
          <p:nvPr/>
        </p:nvSpPr>
        <p:spPr>
          <a:xfrm>
            <a:off x="2743200" y="11430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Reducción en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desacuerdos de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tasación hipotecaria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65760" y="2377440"/>
            <a:ext cx="841248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365760" y="2514600"/>
            <a:ext cx="8412480" cy="1600200"/>
          </a:xfrm>
          <a:prstGeom prst="rect">
            <a:avLst/>
          </a:prstGeom>
          <a:solidFill>
            <a:srgbClr val="0D1E3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02920" y="246888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dirty="0">
                <a:solidFill>
                  <a:srgbClr val="FFFFFF"/>
                </a:solidFill>
              </a:rPr>
              <a:t>"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1005840" y="26974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</a:rPr>
              <a:t>Incorporamos PME al proceso de evaluación de riesgo hipotecario. Ahora cada aprobación tiene respaldo censal. Bajamos los desacuerdos de tasación en un 40%.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7490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— Analista de Riesgo · Entidad financiera suscriptora PME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PME FINANCE · ventas@mis.pe · +51 965 113 510 · pme.pe/bancos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PME FINANCE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37490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Banca · Seguros · Fintechs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Próximos pasos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2743200" y="1920240"/>
            <a:ext cx="3657600" cy="0"/>
          </a:xfrm>
          <a:prstGeom prst="line">
            <a:avLst/>
          </a:prstGeom>
          <a:noFill/>
          <a:ln w="15240">
            <a:solidFill>
              <a:srgbClr val="1D6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65760" y="20574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Agenda una presentación técnica con tu área de Riesgo Hipotecario o Crédito.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2697480"/>
            <a:ext cx="594360" cy="594360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14400" y="2697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340156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Reunión técnica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7490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30 min con el equipo de Riesgo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468880" y="28346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6FE8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566160" y="2697480"/>
            <a:ext cx="594360" cy="594360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566160" y="2697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46120" y="340156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Inicio del PoC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46120" y="37490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Acceso gratuito en 48 horas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120640" y="28346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6FE8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17920" y="2697480"/>
            <a:ext cx="594360" cy="594360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217920" y="2697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897880" y="340156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Propuesta formal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97880" y="37490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Con resultados medidos del PoC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0" y="4297680"/>
            <a:ext cx="4572000" cy="502920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2286000" y="42976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ventas@mis.pe · +51 965 113 510 · pme.pe/bancos</a:t>
            </a:r>
            <a:endParaRPr lang="en-US" sz="1100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779E06E-B412-E4A5-9328-CA61FD0E4792}"/>
              </a:ext>
            </a:extLst>
          </p:cNvPr>
          <p:cNvSpPr txBox="1"/>
          <p:nvPr/>
        </p:nvSpPr>
        <p:spPr>
          <a:xfrm>
            <a:off x="3102964" y="3829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PE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1299</Words>
  <Application>Microsoft Macintosh PowerPoint</Application>
  <PresentationFormat>Presentación en pantalla (16:9)</PresentationFormat>
  <Paragraphs>241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PME FINANCE — Inteligencia para Banca y Seguros 2026</dc:title>
  <dc:subject>PptxGenJS Presentation</dc:subject>
  <dc:creator>Millennial Information Systems</dc:creator>
  <cp:lastModifiedBy>Carlos Vera</cp:lastModifiedBy>
  <cp:revision>1</cp:revision>
  <dcterms:created xsi:type="dcterms:W3CDTF">2026-03-27T05:30:13Z</dcterms:created>
  <dcterms:modified xsi:type="dcterms:W3CDTF">2026-03-30T22:57:47Z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2026-03-30T22:57:47Z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2958757b-985d-484e-a7ab-d6f38d770cd8</vt:lpwstr>
  </property>
  <property fmtid="{D5CDD505-2E9C-101B-9397-08002B2CF9AE}" pid="7" name="MSIP_Label_defa4170-0d19-0005-0004-bc88714345d2_ActionId">
    <vt:lpwstr>f5ee356c-9770-40cb-92c0-fb58a7e75506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