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13716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PME CAPECO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97316"/>
                </a:solidFill>
              </a:rPr>
              <a:t>La inteligencia que mueve el sector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inmobiliario del Perú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Fuente oficial CAPECO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374904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2918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Dato censal — no muestral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1792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~50 empresas suscriptoras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Confidencial · Millennial Information Systems · Marzo 2049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AGENDA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</a:rPr>
              <a:t>¿Qué vemos hoy?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828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El problema del sector — decisiones sin dato censal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2677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Qué es PME CAPECO — plataforma y metodología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27066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La diferencia censal vs muestral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31455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145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Cobertura y datos disponibles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5760" y="35844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584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Quiénes ya usan PME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5760" y="40233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4023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Para auspiciadores — visibilidad premium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828800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54880" y="1828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Paquetes y precios 2049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267712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54880" y="22677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Para suscriptores — acceso al dato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706624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754880" y="27066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Tasamelo — preview del nuevo producto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145536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754880" y="31455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3145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Casos de uso reales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584448"/>
            <a:ext cx="365760" cy="29260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54880" y="35844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12080" y="3584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Cómo empezar hoy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EL PROBLEMA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1430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El sector decide con datos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65760" y="17373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E8500D"/>
                </a:solidFill>
              </a:rPr>
              <a:t>incompletos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Las fuentes alternativas muestran precios de anuncio, no de cierre. La diferencia puede llegar al 15%.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2788920" cy="164592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0352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3246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Portales muestran precio de lista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51129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 el precio real de cierre de transacción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743200"/>
            <a:ext cx="2788920" cy="164592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502152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Estudios ad-hoc tardan meses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351129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Y cuestan USD 3,000–8,000 por estudio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2788920" cy="164592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73952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46520" y="3246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Fuentes sin respaldo institucional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351129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 pasan auditorías ni directorios exigentes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QUÉ ES PME CAPECO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0"/>
                </a:solidFill>
              </a:rPr>
              <a:t>La única plataforma de inteligencia inmobiliaria con dato censal del Perú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Operada por Millennial Information Systems · En alianza estratégica con CAPECO desde hace más de una década.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0352" y="2596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Dato censal 100%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3697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 muestral. Recogemos el 100% de los proyectos activos en Lima Metropolitana, no una muestra.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246888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02152" y="2596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Actualización trimestral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23697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Cuatro actualizaciones al año. Siempre el dato más reciente del mercado disponible.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246888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73952" y="2596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9718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Sello institucional CAPECO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236976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63 años de trayectoria. La fuente que el sector — y la SBS — acepta sin cuestionamientos.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LA DIFERENCIA CENSAL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Censal vs Muestral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82880" y="1783080"/>
            <a:ext cx="2176272" cy="320040"/>
          </a:xfrm>
          <a:prstGeom prst="rect">
            <a:avLst/>
          </a:prstGeom>
          <a:solidFill>
            <a:srgbClr val="1B3A5C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2880" y="17830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1783080"/>
            <a:ext cx="2176272" cy="320040"/>
          </a:xfrm>
          <a:prstGeom prst="rect">
            <a:avLst/>
          </a:prstGeom>
          <a:solidFill>
            <a:srgbClr val="E8500D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377440" y="17830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PME CAPECO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2176272" cy="320040"/>
          </a:xfrm>
          <a:prstGeom prst="rect">
            <a:avLst/>
          </a:prstGeom>
          <a:solidFill>
            <a:srgbClr val="1B3A5C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17830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Nexo / Portales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783080"/>
            <a:ext cx="2176272" cy="320040"/>
          </a:xfrm>
          <a:prstGeom prst="rect">
            <a:avLst/>
          </a:prstGeom>
          <a:solidFill>
            <a:srgbClr val="1B3A5C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66560" y="17830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Estudios ad-hoc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12140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82880" y="2121408"/>
            <a:ext cx="2176272" cy="3931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Metodología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77440" y="2121408"/>
            <a:ext cx="2176272" cy="393192"/>
          </a:xfrm>
          <a:prstGeom prst="rect">
            <a:avLst/>
          </a:prstGeom>
          <a:solidFill>
            <a:srgbClr val="1F3F60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377440" y="212140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Censal 100%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12140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0" y="212140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Muestral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212140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66560" y="212140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Muestral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253288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82880" y="2532888"/>
            <a:ext cx="2176272" cy="3931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Actualización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0" y="2532888"/>
            <a:ext cx="2176272" cy="393192"/>
          </a:xfrm>
          <a:prstGeom prst="rect">
            <a:avLst/>
          </a:prstGeom>
          <a:solidFill>
            <a:srgbClr val="1A3555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377440" y="253288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Trimestral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53288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2000" y="253288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Tiempo real (anuncios)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253288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766560" y="253288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Anual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294436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82880" y="2944368"/>
            <a:ext cx="2176272" cy="3931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Cobertura Lima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377440" y="2944368"/>
            <a:ext cx="2176272" cy="393192"/>
          </a:xfrm>
          <a:prstGeom prst="rect">
            <a:avLst/>
          </a:prstGeom>
          <a:solidFill>
            <a:srgbClr val="1F3F60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377440" y="294436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49 distritos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294436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572000" y="294436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Parcial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294436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766560" y="294436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Limitada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82880" y="335584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82880" y="3355848"/>
            <a:ext cx="2176272" cy="3931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Sello institucional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377440" y="3355848"/>
            <a:ext cx="2176272" cy="393192"/>
          </a:xfrm>
          <a:prstGeom prst="rect">
            <a:avLst/>
          </a:prstGeom>
          <a:solidFill>
            <a:srgbClr val="1A3555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377440" y="335584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CAPECO 1961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0" y="335584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0" y="335584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66560" y="335584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66560" y="335584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Variable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82880" y="376732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82880" y="3767328"/>
            <a:ext cx="2176272" cy="3931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Precio de cierre real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377440" y="3767328"/>
            <a:ext cx="2176272" cy="393192"/>
          </a:xfrm>
          <a:prstGeom prst="rect">
            <a:avLst/>
          </a:prstGeom>
          <a:solidFill>
            <a:srgbClr val="1F3F60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377440" y="376732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Sí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0" y="376732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572000" y="376732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No (anuncios)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766560" y="3767328"/>
            <a:ext cx="2176272" cy="393192"/>
          </a:xfrm>
          <a:prstGeom prst="rect">
            <a:avLst/>
          </a:prstGeom>
          <a:solidFill>
            <a:srgbClr val="162236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766560" y="376732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No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82880" y="417880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82880" y="4178808"/>
            <a:ext cx="2176272" cy="3931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Dashboard + export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377440" y="4178808"/>
            <a:ext cx="2176272" cy="393192"/>
          </a:xfrm>
          <a:prstGeom prst="rect">
            <a:avLst/>
          </a:prstGeom>
          <a:solidFill>
            <a:srgbClr val="1A3555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377440" y="417880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Power BI + PDF/Excel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0" y="417880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4572000" y="417880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Básico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766560" y="4178808"/>
            <a:ext cx="2176272" cy="393192"/>
          </a:xfrm>
          <a:prstGeom prst="rect">
            <a:avLst/>
          </a:prstGeom>
          <a:solidFill>
            <a:srgbClr val="0E1E2E"/>
          </a:solidFill>
          <a:ln w="381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766560" y="4178808"/>
            <a:ext cx="2176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BAA"/>
                </a:solidFill>
              </a:rPr>
              <a:t>—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COBERTURA DE DATOS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0"/>
                </a:solidFill>
              </a:rPr>
              <a:t>49 distritos de Lima Metropolitana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Data completa: precio m² por cierre, absorción, stock, tipología y tendencia histórica desde 2017.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2011680" cy="1645920"/>
          </a:xfrm>
          <a:prstGeom prst="rect">
            <a:avLst/>
          </a:prstGeom>
          <a:solidFill>
            <a:srgbClr val="0F2340"/>
          </a:solidFill>
          <a:ln w="6350">
            <a:solidFill>
              <a:srgbClr val="0F234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49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5760" y="3090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Distritos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214884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1460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340"/>
                </a:solidFill>
              </a:rPr>
              <a:t>100%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2514600" y="3090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Cobertura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censal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4884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6344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340"/>
                </a:solidFill>
              </a:rPr>
              <a:t>8+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663440" y="3090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Variables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por proyecto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214884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1228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340"/>
                </a:solidFill>
              </a:rPr>
              <a:t>2017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812280" y="3090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Serie histórica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desde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Variables disponibles: precio m² oferta y venta · unidades comercializables · absorción · tipología (1D/2D/3D+) · estado de obra · nivel socioeconómico · corredor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 / 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QUIÉNES YA USAN PME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~50 empresas del sector confían en PME cada trimestre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65760" y="1828800"/>
            <a:ext cx="2834640" cy="12344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19385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Constructoras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BESCO · La Casa · ENACORP · ADI Perú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28800"/>
            <a:ext cx="2834640" cy="12344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77640" y="19385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Sector financiero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BCP · BBVA · Scotiabank · BancoGNB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1828800"/>
            <a:ext cx="2834640" cy="12344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465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19385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Consultoras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Apoyo Consultoría · Invertir.pe · ZETA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246120"/>
            <a:ext cx="2834640" cy="12344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920" y="3355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Académico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ULIMA · PUCP · UPC · USMP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37560" y="3246120"/>
            <a:ext cx="2834640" cy="12344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74720" y="3355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77640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Institucional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Ministerio de Vivienda · Mivivienda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3246120"/>
            <a:ext cx="2834640" cy="12344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46520" y="3355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49440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Tecnología/servicios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652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Movistar · Promart · UNICON · GLASST · Sika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PARA AUSPICIADORES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0"/>
                </a:solidFill>
              </a:rPr>
              <a:t>Tu marca en el centro del sector constructor del Perú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PME CAPECO es la única plataforma consultada por bancos, fondos, promotoras y organismos del Estado para tomar decisiones inmobiliarias.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0352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Presencia en dashboards a diario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998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Tu marca visible en la pantalla donde los líderes del sector analizan el mercado cada semana.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233172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65192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Asociación directa con CAPECO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0998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63 años de credibilidad institucional del gremio constructor más antiguo del Perú.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0352" y="37856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Activaciones en eventos CAPECO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4256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Congreso Construye Perú, foros sectoriales, publicaciones y mailings.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65760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65192" y="37856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41605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Alcance al mailing CAPECO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4256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Presencia en flyers a 45,000+ correos y 7,000+ empresas del sector.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PAQUETES DE AUSPICIO 2049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0"/>
                </a:solidFill>
              </a:rPr>
              <a:t>Tres niveles · Cupos limitados por rubro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</a:rPr>
              <a:t>BRONCE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</a:rPr>
              <a:t>USD 2,400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/año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Logo en footer de dashboards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044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Mención en informe trimestral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 acceso usuario PME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554480"/>
            <a:ext cx="2651760" cy="274320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246120" y="1554480"/>
            <a:ext cx="2651760" cy="36576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2900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</a:rPr>
              <a:t>PLATA 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USD 3,600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429000" y="2441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/año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2651760"/>
            <a:ext cx="228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2900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Logo dashboards Lima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9000" y="3044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Mención informe + RRSS CAPECO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29000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Mailing 45k (3 meses)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29000" y="36484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 suscripción PME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15544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</a:rPr>
              <a:t>ORO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</a:rPr>
              <a:t>USD 6,000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400800" y="2441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/año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265176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Logo en todos los dashboards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044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Banner informe trimestral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0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Stand Congreso Construye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0" y="36484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Acceso base suscriptores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0" y="3950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 suscripciones PME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 / 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PARA SUSCRIPTORES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El dato que necesitas para ganarle al mercado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1737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Desde USD 490/mes por empresa · Multi-usuario · Power BI Embedded · Exportación PDF / Excel / PowerPoint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4251960" cy="114300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0352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2834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Precio real — no precio de lista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0998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Transacciones reales. Hasta 15% de diferencia frente a portales.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331720"/>
            <a:ext cx="4251960" cy="114300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65192" y="2459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37760" y="2834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49 distritos con data completa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0998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Tipología, precio, absorción y estado de obra por corredor.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611880"/>
            <a:ext cx="4251960" cy="114300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0352" y="3739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" y="41148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 análisis en minutos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3799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Filtros por distrito, tipología y fecha. Exporta listo para presentar.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611880"/>
            <a:ext cx="4251960" cy="114300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965192" y="3739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937760" y="41148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Multi-usuario con roles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3799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Administra quién ve qué. Ideal para gerencia, análisis y ventas.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3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TASA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7320" y="137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MELO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by PME CAPECO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</a:rPr>
              <a:t>PRÓXIMAMENTE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El precio de cualquier inmueble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</a:rPr>
              <a:t>en Lima — en 30 segundos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Ubica el inmueble en el mapa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365760" cy="365760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044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Ingresa tipología y m²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365760" cy="365760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Precio estimado + tendencia + alertas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Beta disponible en 90 días · Incluido en planes ORO y PLATA de auspicio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CASOS DE USO REALES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0"/>
                </a:solidFill>
              </a:rPr>
              <a:t>Cómo el sector usa PME CAPECO hoy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38912" y="1865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Promotora decide terreno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054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Analiza absorción y precio real por corredor antes de comprar. PME reduce el riesgo de inversión.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7373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10712" y="1865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Banco aprueba hipoteca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5054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Calibra el LTV con precio de cierre real. Sustento institucional CAPECO ante auditorías SBS.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82512" y="1865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Valuador emite informe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5054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Cita PME como fuente institucional. Credibilidad ante cliente y juzgado sin cuestionamientos.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8912" y="3328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" y="3703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Estado asigna subsidios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968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Identifica zonas con déficit habitacional y asigna programas Mivivienda con data real.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20040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10712" y="3328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83280" y="3703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Tesista valida viabilidad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68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Precio m², absorción y tendencia para sustentar proyectos de Arquitectura e Ingeniería.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82512" y="33284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55080" y="3703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Consultor asesora fondo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3968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Scoring de portafolios inmobiliarios con data censal auditada de Lima Metropolitana.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13 / 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LO QUE DICE EL SECTOR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PME en palabras de quienes lo usan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74320" y="1828800"/>
            <a:ext cx="2834640" cy="26060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rgbClr val="0F234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19568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Gerente de Finanzas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Inmobiliaria Lima Norte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542032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38912" y="2633472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"PME es la única fuente que nuestro directorio acepta sin pedir más sustento."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1828800"/>
            <a:ext cx="2834640" cy="26060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429000" y="1938528"/>
            <a:ext cx="502920" cy="502920"/>
          </a:xfrm>
          <a:prstGeom prst="ellipse">
            <a:avLst/>
          </a:prstGeom>
          <a:solidFill>
            <a:srgbClr val="0F234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4290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19568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Director de Proyectos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0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Grupo promotor Miraflores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29000" y="2542032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10712" y="2633472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"Con PME armamos nuestro análisis de competencia en media mañana. El ROI se paga en el primer proyecto."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1828800"/>
            <a:ext cx="2834640" cy="260604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400800" y="1938528"/>
            <a:ext cx="502920" cy="502920"/>
          </a:xfrm>
          <a:prstGeom prst="ellipse">
            <a:avLst/>
          </a:prstGeom>
          <a:solidFill>
            <a:srgbClr val="0F2340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19568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Analista de Riesgo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Entidad financiera suscriptora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2542032"/>
            <a:ext cx="24688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382512" y="2633472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"Incorporamos PME al proceso hipotecario. Bajamos los desacuerdos de tasación en un 40%."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00D"/>
                </a:solidFill>
              </a:rPr>
              <a:t>CÓMO EMPEZAR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0"/>
                </a:solidFill>
              </a:rPr>
              <a:t>Tres pasos para unirte a PME CAPECO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71600" y="1828800"/>
            <a:ext cx="731520" cy="731520"/>
          </a:xfrm>
          <a:prstGeom prst="ellipse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16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40"/>
                </a:solidFill>
              </a:rPr>
              <a:t>Contacto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Escríbenos a ventas@mis.pe o llama al +51 965 113 510. Te respondemos en menos de 24 horas hábiles.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731520" cy="731520"/>
          </a:xfrm>
          <a:prstGeom prst="ellipse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434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40"/>
                </a:solidFill>
              </a:rPr>
              <a:t>Propuesta personalizada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 enviamos una propuesta adaptada a tu perfil: auspiciador, suscriptor corporativo o usuario final.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731520" cy="731520"/>
          </a:xfrm>
          <a:prstGeom prst="ellipse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40"/>
                </a:solidFill>
              </a:rPr>
              <a:t>Acceso en 48 horas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Una vez confirmado, configuramos tus credenciales y recibes acceso completo a PME CAPECO.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0" y="4160520"/>
            <a:ext cx="4572000" cy="502920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28600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ventas@mis.pe · www.pme.pe · +51 965 113 510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ventas@mis.pe · +51 965 113 510 · www.pme.pe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CAPECO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Inteligencia de mercado inmobiliario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PME CAPECO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365760" y="2194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7316"/>
                </a:solidFill>
              </a:rPr>
              <a:t>La inteligencia que mueve el sector inmobiliario del Perú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1905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🌐  www.pme.pe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✉  ventas@mis.pe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✉  pme_ux@capeco.org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📞  +51 965 113 510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Operado por Millennial Information Systems · millev.com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MIS / CAPECO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PME CAPECO — Presentación General 2026</dc:title>
  <dc:subject>PptxGenJS Presentation</dc:subject>
  <dc:creator>Millennial Information Systems</dc:creator>
  <cp:lastModifiedBy>Millennial Information Systems</cp:lastModifiedBy>
  <cp:revision>1</cp:revision>
  <dcterms:created xsi:type="dcterms:W3CDTF">2026-03-27T05:30:13Z</dcterms:created>
  <dcterms:modified xsi:type="dcterms:W3CDTF">2026-03-27T05:30:13Z</dcterms:modified>
</cp:coreProperties>
</file>